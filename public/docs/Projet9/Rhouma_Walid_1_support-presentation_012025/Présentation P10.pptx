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25"/>
  </p:notesMasterIdLst>
  <p:sldIdLst>
    <p:sldId id="284" r:id="rId2"/>
    <p:sldId id="256" r:id="rId3"/>
    <p:sldId id="285" r:id="rId4"/>
    <p:sldId id="259" r:id="rId5"/>
    <p:sldId id="292" r:id="rId6"/>
    <p:sldId id="286" r:id="rId7"/>
    <p:sldId id="261" r:id="rId8"/>
    <p:sldId id="273" r:id="rId9"/>
    <p:sldId id="274" r:id="rId10"/>
    <p:sldId id="275" r:id="rId11"/>
    <p:sldId id="276" r:id="rId12"/>
    <p:sldId id="277" r:id="rId13"/>
    <p:sldId id="293" r:id="rId14"/>
    <p:sldId id="263" r:id="rId15"/>
    <p:sldId id="264" r:id="rId16"/>
    <p:sldId id="278" r:id="rId17"/>
    <p:sldId id="288" r:id="rId18"/>
    <p:sldId id="290" r:id="rId19"/>
    <p:sldId id="281" r:id="rId20"/>
    <p:sldId id="282" r:id="rId21"/>
    <p:sldId id="265" r:id="rId22"/>
    <p:sldId id="266" r:id="rId23"/>
    <p:sldId id="291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240" y="43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2AB18E-EF36-451A-8498-E537B10D490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99C172-85BE-424E-B0CC-21870E9095BB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i="1" dirty="0">
              <a:solidFill>
                <a:srgbClr val="002060"/>
              </a:solidFill>
            </a:rPr>
            <a:t>Un script </a:t>
          </a:r>
          <a:r>
            <a:rPr lang="fr-FR" i="1" dirty="0" err="1">
              <a:solidFill>
                <a:srgbClr val="002060"/>
              </a:solidFill>
            </a:rPr>
            <a:t>bash</a:t>
          </a:r>
          <a:r>
            <a:rPr lang="fr-FR" i="1" dirty="0">
              <a:solidFill>
                <a:srgbClr val="002060"/>
              </a:solidFill>
            </a:rPr>
            <a:t> exécute quotidiennement  la sauvegarde des données depuis la </a:t>
          </a:r>
          <a:r>
            <a:rPr lang="fr-FR" i="1" dirty="0" err="1">
              <a:solidFill>
                <a:srgbClr val="002060"/>
              </a:solidFill>
            </a:rPr>
            <a:t>vm</a:t>
          </a:r>
          <a:r>
            <a:rPr lang="fr-FR" i="1" dirty="0">
              <a:solidFill>
                <a:srgbClr val="002060"/>
              </a:solidFill>
            </a:rPr>
            <a:t> de simulation vers le serveur de stockage.</a:t>
          </a:r>
          <a:endParaRPr lang="en-US" i="1" dirty="0">
            <a:solidFill>
              <a:srgbClr val="002060"/>
            </a:solidFill>
          </a:endParaRPr>
        </a:p>
      </dgm:t>
    </dgm:pt>
    <dgm:pt modelId="{8AD0F87D-0289-4A89-8A14-E86C985CF2E7}" type="parTrans" cxnId="{FBE8AADB-1C08-409D-9960-CF55C65BD3EC}">
      <dgm:prSet/>
      <dgm:spPr/>
      <dgm:t>
        <a:bodyPr/>
        <a:lstStyle/>
        <a:p>
          <a:endParaRPr lang="en-US"/>
        </a:p>
      </dgm:t>
    </dgm:pt>
    <dgm:pt modelId="{D1F7798A-D6FB-4C76-85E6-F4103C61DC05}" type="sibTrans" cxnId="{FBE8AADB-1C08-409D-9960-CF55C65BD3E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FE655A-C411-4673-AD52-6036D97B659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i="1" dirty="0">
              <a:solidFill>
                <a:srgbClr val="002060"/>
              </a:solidFill>
            </a:rPr>
            <a:t>Les journaux d’exécution sont enregistrés dans le dossier /home/walid/LOG sur la </a:t>
          </a:r>
          <a:r>
            <a:rPr lang="fr-FR" i="1" dirty="0" err="1">
              <a:solidFill>
                <a:srgbClr val="002060"/>
              </a:solidFill>
            </a:rPr>
            <a:t>vm</a:t>
          </a:r>
          <a:r>
            <a:rPr lang="fr-FR" i="1" dirty="0">
              <a:solidFill>
                <a:srgbClr val="002060"/>
              </a:solidFill>
            </a:rPr>
            <a:t> de simulation.</a:t>
          </a:r>
          <a:endParaRPr lang="en-US" i="1" dirty="0">
            <a:solidFill>
              <a:srgbClr val="002060"/>
            </a:solidFill>
          </a:endParaRPr>
        </a:p>
      </dgm:t>
    </dgm:pt>
    <dgm:pt modelId="{640ABD8F-D18A-4809-835E-F97CDE1662E5}" type="parTrans" cxnId="{DB8D31E2-34ED-465A-B36D-698680D9F79C}">
      <dgm:prSet/>
      <dgm:spPr/>
      <dgm:t>
        <a:bodyPr/>
        <a:lstStyle/>
        <a:p>
          <a:endParaRPr lang="en-US"/>
        </a:p>
      </dgm:t>
    </dgm:pt>
    <dgm:pt modelId="{B464BD9A-ACBA-43F8-8859-1C4A36A784FE}" type="sibTrans" cxnId="{DB8D31E2-34ED-465A-B36D-698680D9F79C}">
      <dgm:prSet/>
      <dgm:spPr/>
      <dgm:t>
        <a:bodyPr/>
        <a:lstStyle/>
        <a:p>
          <a:endParaRPr lang="en-US"/>
        </a:p>
      </dgm:t>
    </dgm:pt>
    <dgm:pt modelId="{D166FD76-CEFE-4601-B1BE-4C972100BFB7}" type="pres">
      <dgm:prSet presAssocID="{6D2AB18E-EF36-451A-8498-E537B10D4902}" presName="root" presStyleCnt="0">
        <dgm:presLayoutVars>
          <dgm:dir/>
          <dgm:resizeHandles val="exact"/>
        </dgm:presLayoutVars>
      </dgm:prSet>
      <dgm:spPr/>
    </dgm:pt>
    <dgm:pt modelId="{E490F88C-FDD5-4A0F-B178-766D3AB16634}" type="pres">
      <dgm:prSet presAssocID="{6D2AB18E-EF36-451A-8498-E537B10D4902}" presName="container" presStyleCnt="0">
        <dgm:presLayoutVars>
          <dgm:dir/>
          <dgm:resizeHandles val="exact"/>
        </dgm:presLayoutVars>
      </dgm:prSet>
      <dgm:spPr/>
    </dgm:pt>
    <dgm:pt modelId="{9987CAF3-2FC8-46CF-8BFD-CE03227F8988}" type="pres">
      <dgm:prSet presAssocID="{9B99C172-85BE-424E-B0CC-21870E9095BB}" presName="compNode" presStyleCnt="0"/>
      <dgm:spPr/>
    </dgm:pt>
    <dgm:pt modelId="{01C04592-5528-47E9-B2B1-387305248392}" type="pres">
      <dgm:prSet presAssocID="{9B99C172-85BE-424E-B0CC-21870E9095BB}" presName="iconBgRect" presStyleLbl="bgShp" presStyleIdx="0" presStyleCnt="2"/>
      <dgm:spPr/>
    </dgm:pt>
    <dgm:pt modelId="{6527E373-FB5C-42C4-BAAB-91DE6D84A6BE}" type="pres">
      <dgm:prSet presAssocID="{9B99C172-85BE-424E-B0CC-21870E9095B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585AC227-D964-4B34-A1D2-056804096732}" type="pres">
      <dgm:prSet presAssocID="{9B99C172-85BE-424E-B0CC-21870E9095BB}" presName="spaceRect" presStyleCnt="0"/>
      <dgm:spPr/>
    </dgm:pt>
    <dgm:pt modelId="{6840A6AA-DFA2-4949-B0F7-0AB8CB99CF62}" type="pres">
      <dgm:prSet presAssocID="{9B99C172-85BE-424E-B0CC-21870E9095BB}" presName="textRect" presStyleLbl="revTx" presStyleIdx="0" presStyleCnt="2">
        <dgm:presLayoutVars>
          <dgm:chMax val="1"/>
          <dgm:chPref val="1"/>
        </dgm:presLayoutVars>
      </dgm:prSet>
      <dgm:spPr/>
    </dgm:pt>
    <dgm:pt modelId="{87ECB6BA-9F1E-4420-A25A-4283089CF00D}" type="pres">
      <dgm:prSet presAssocID="{D1F7798A-D6FB-4C76-85E6-F4103C61DC05}" presName="sibTrans" presStyleLbl="sibTrans2D1" presStyleIdx="0" presStyleCnt="0"/>
      <dgm:spPr/>
    </dgm:pt>
    <dgm:pt modelId="{54056ED6-4A69-4150-B26D-5ACE8C5B7A81}" type="pres">
      <dgm:prSet presAssocID="{C7FE655A-C411-4673-AD52-6036D97B659D}" presName="compNode" presStyleCnt="0"/>
      <dgm:spPr/>
    </dgm:pt>
    <dgm:pt modelId="{F83CA7F2-453B-443B-9994-B376BB351EC7}" type="pres">
      <dgm:prSet presAssocID="{C7FE655A-C411-4673-AD52-6036D97B659D}" presName="iconBgRect" presStyleLbl="bgShp" presStyleIdx="1" presStyleCnt="2"/>
      <dgm:spPr/>
    </dgm:pt>
    <dgm:pt modelId="{9E70BD5F-702F-448B-9103-27420F89C4C8}" type="pres">
      <dgm:prSet presAssocID="{C7FE655A-C411-4673-AD52-6036D97B659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B3FC7DD-32B0-4683-8CF9-4CA28F6A49EF}" type="pres">
      <dgm:prSet presAssocID="{C7FE655A-C411-4673-AD52-6036D97B659D}" presName="spaceRect" presStyleCnt="0"/>
      <dgm:spPr/>
    </dgm:pt>
    <dgm:pt modelId="{20F6B3C2-4682-42F2-99F9-F0AC2D8377BC}" type="pres">
      <dgm:prSet presAssocID="{C7FE655A-C411-4673-AD52-6036D97B659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764EE67-B5EB-42E3-83CF-52639AEEC908}" type="presOf" srcId="{9B99C172-85BE-424E-B0CC-21870E9095BB}" destId="{6840A6AA-DFA2-4949-B0F7-0AB8CB99CF62}" srcOrd="0" destOrd="0" presId="urn:microsoft.com/office/officeart/2018/2/layout/IconCircleList"/>
    <dgm:cxn modelId="{45B61F49-2FDA-410A-A4D4-BEEA18C25AF8}" type="presOf" srcId="{6D2AB18E-EF36-451A-8498-E537B10D4902}" destId="{D166FD76-CEFE-4601-B1BE-4C972100BFB7}" srcOrd="0" destOrd="0" presId="urn:microsoft.com/office/officeart/2018/2/layout/IconCircleList"/>
    <dgm:cxn modelId="{22A54C81-292A-458A-AF2A-B7388BD98A3D}" type="presOf" srcId="{C7FE655A-C411-4673-AD52-6036D97B659D}" destId="{20F6B3C2-4682-42F2-99F9-F0AC2D8377BC}" srcOrd="0" destOrd="0" presId="urn:microsoft.com/office/officeart/2018/2/layout/IconCircleList"/>
    <dgm:cxn modelId="{1C03B8B8-F794-4535-BE82-90FB0CDD0500}" type="presOf" srcId="{D1F7798A-D6FB-4C76-85E6-F4103C61DC05}" destId="{87ECB6BA-9F1E-4420-A25A-4283089CF00D}" srcOrd="0" destOrd="0" presId="urn:microsoft.com/office/officeart/2018/2/layout/IconCircleList"/>
    <dgm:cxn modelId="{FBE8AADB-1C08-409D-9960-CF55C65BD3EC}" srcId="{6D2AB18E-EF36-451A-8498-E537B10D4902}" destId="{9B99C172-85BE-424E-B0CC-21870E9095BB}" srcOrd="0" destOrd="0" parTransId="{8AD0F87D-0289-4A89-8A14-E86C985CF2E7}" sibTransId="{D1F7798A-D6FB-4C76-85E6-F4103C61DC05}"/>
    <dgm:cxn modelId="{DB8D31E2-34ED-465A-B36D-698680D9F79C}" srcId="{6D2AB18E-EF36-451A-8498-E537B10D4902}" destId="{C7FE655A-C411-4673-AD52-6036D97B659D}" srcOrd="1" destOrd="0" parTransId="{640ABD8F-D18A-4809-835E-F97CDE1662E5}" sibTransId="{B464BD9A-ACBA-43F8-8859-1C4A36A784FE}"/>
    <dgm:cxn modelId="{8654E484-2F58-41F5-9F77-C87897F9DD6B}" type="presParOf" srcId="{D166FD76-CEFE-4601-B1BE-4C972100BFB7}" destId="{E490F88C-FDD5-4A0F-B178-766D3AB16634}" srcOrd="0" destOrd="0" presId="urn:microsoft.com/office/officeart/2018/2/layout/IconCircleList"/>
    <dgm:cxn modelId="{69B47874-8EF8-4CAD-AA3E-CCA8FFBFB6E0}" type="presParOf" srcId="{E490F88C-FDD5-4A0F-B178-766D3AB16634}" destId="{9987CAF3-2FC8-46CF-8BFD-CE03227F8988}" srcOrd="0" destOrd="0" presId="urn:microsoft.com/office/officeart/2018/2/layout/IconCircleList"/>
    <dgm:cxn modelId="{CED12899-1344-45F3-82A3-C6B0FC8CB983}" type="presParOf" srcId="{9987CAF3-2FC8-46CF-8BFD-CE03227F8988}" destId="{01C04592-5528-47E9-B2B1-387305248392}" srcOrd="0" destOrd="0" presId="urn:microsoft.com/office/officeart/2018/2/layout/IconCircleList"/>
    <dgm:cxn modelId="{23F5B9E9-2E73-4470-9F27-DED8945B0BAB}" type="presParOf" srcId="{9987CAF3-2FC8-46CF-8BFD-CE03227F8988}" destId="{6527E373-FB5C-42C4-BAAB-91DE6D84A6BE}" srcOrd="1" destOrd="0" presId="urn:microsoft.com/office/officeart/2018/2/layout/IconCircleList"/>
    <dgm:cxn modelId="{3309B2A7-1060-4FB3-88FE-D58702A0F802}" type="presParOf" srcId="{9987CAF3-2FC8-46CF-8BFD-CE03227F8988}" destId="{585AC227-D964-4B34-A1D2-056804096732}" srcOrd="2" destOrd="0" presId="urn:microsoft.com/office/officeart/2018/2/layout/IconCircleList"/>
    <dgm:cxn modelId="{72E58BE9-A31A-4DC0-8977-416189F62C35}" type="presParOf" srcId="{9987CAF3-2FC8-46CF-8BFD-CE03227F8988}" destId="{6840A6AA-DFA2-4949-B0F7-0AB8CB99CF62}" srcOrd="3" destOrd="0" presId="urn:microsoft.com/office/officeart/2018/2/layout/IconCircleList"/>
    <dgm:cxn modelId="{D24BB3E3-54DD-4108-9F2D-988BCEA6CA21}" type="presParOf" srcId="{E490F88C-FDD5-4A0F-B178-766D3AB16634}" destId="{87ECB6BA-9F1E-4420-A25A-4283089CF00D}" srcOrd="1" destOrd="0" presId="urn:microsoft.com/office/officeart/2018/2/layout/IconCircleList"/>
    <dgm:cxn modelId="{B9748ED0-DB5B-400E-8BC5-31DBB63E4925}" type="presParOf" srcId="{E490F88C-FDD5-4A0F-B178-766D3AB16634}" destId="{54056ED6-4A69-4150-B26D-5ACE8C5B7A81}" srcOrd="2" destOrd="0" presId="urn:microsoft.com/office/officeart/2018/2/layout/IconCircleList"/>
    <dgm:cxn modelId="{C060B54F-C1E1-4C8D-8A8D-3B2BB1BAD548}" type="presParOf" srcId="{54056ED6-4A69-4150-B26D-5ACE8C5B7A81}" destId="{F83CA7F2-453B-443B-9994-B376BB351EC7}" srcOrd="0" destOrd="0" presId="urn:microsoft.com/office/officeart/2018/2/layout/IconCircleList"/>
    <dgm:cxn modelId="{790AD702-7062-41B9-90B6-D2E879E84BE1}" type="presParOf" srcId="{54056ED6-4A69-4150-B26D-5ACE8C5B7A81}" destId="{9E70BD5F-702F-448B-9103-27420F89C4C8}" srcOrd="1" destOrd="0" presId="urn:microsoft.com/office/officeart/2018/2/layout/IconCircleList"/>
    <dgm:cxn modelId="{6E9CF3D3-D3CC-4FC7-BD40-3B76812ED013}" type="presParOf" srcId="{54056ED6-4A69-4150-B26D-5ACE8C5B7A81}" destId="{BB3FC7DD-32B0-4683-8CF9-4CA28F6A49EF}" srcOrd="2" destOrd="0" presId="urn:microsoft.com/office/officeart/2018/2/layout/IconCircleList"/>
    <dgm:cxn modelId="{F4ADE202-1E3B-4017-BABF-73808B33C0EE}" type="presParOf" srcId="{54056ED6-4A69-4150-B26D-5ACE8C5B7A81}" destId="{20F6B3C2-4682-42F2-99F9-F0AC2D8377B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D9C4C6-67AC-411D-A058-4FD46F2D8A7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B90A0B-E3E0-4780-802E-C7582ED529D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>
              <a:solidFill>
                <a:srgbClr val="002060"/>
              </a:solidFill>
            </a:rPr>
            <a:t>Les sauvegardes anciennes (au-delà des deux plus récentes) sont déplacées vers un répertoire </a:t>
          </a:r>
          <a:r>
            <a:rPr lang="fr-FR" b="1" dirty="0">
              <a:solidFill>
                <a:srgbClr val="002060"/>
              </a:solidFill>
            </a:rPr>
            <a:t>ARCHIVES</a:t>
          </a:r>
          <a:endParaRPr lang="en-US" dirty="0">
            <a:solidFill>
              <a:srgbClr val="002060"/>
            </a:solidFill>
          </a:endParaRPr>
        </a:p>
      </dgm:t>
    </dgm:pt>
    <dgm:pt modelId="{68B9F588-92EE-44D5-9400-83FCA3E32AC3}" type="parTrans" cxnId="{C4B08AAA-487A-4B0A-8738-0326F1E52F4C}">
      <dgm:prSet/>
      <dgm:spPr/>
      <dgm:t>
        <a:bodyPr/>
        <a:lstStyle/>
        <a:p>
          <a:endParaRPr lang="en-US"/>
        </a:p>
      </dgm:t>
    </dgm:pt>
    <dgm:pt modelId="{9708ED70-E141-414E-8D40-6AFF9A7161F4}" type="sibTrans" cxnId="{C4B08AAA-487A-4B0A-8738-0326F1E52F4C}">
      <dgm:prSet/>
      <dgm:spPr/>
      <dgm:t>
        <a:bodyPr/>
        <a:lstStyle/>
        <a:p>
          <a:endParaRPr lang="en-US"/>
        </a:p>
      </dgm:t>
    </dgm:pt>
    <dgm:pt modelId="{20869E7D-287B-4154-84D3-16E74DF7A84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>
              <a:solidFill>
                <a:srgbClr val="002060"/>
              </a:solidFill>
            </a:rPr>
            <a:t>Les archives les plus anciennes sont automatiquement supprimées </a:t>
          </a:r>
          <a:endParaRPr lang="en-US" dirty="0">
            <a:solidFill>
              <a:srgbClr val="002060"/>
            </a:solidFill>
          </a:endParaRPr>
        </a:p>
      </dgm:t>
    </dgm:pt>
    <dgm:pt modelId="{38C5D93E-6962-4392-B4F9-B2C1F898D253}" type="parTrans" cxnId="{8A392654-9F89-4AC2-A930-8760FCA7A160}">
      <dgm:prSet/>
      <dgm:spPr/>
      <dgm:t>
        <a:bodyPr/>
        <a:lstStyle/>
        <a:p>
          <a:endParaRPr lang="en-US"/>
        </a:p>
      </dgm:t>
    </dgm:pt>
    <dgm:pt modelId="{026A120A-EA22-4601-B76E-B6D0671A7A7D}" type="sibTrans" cxnId="{8A392654-9F89-4AC2-A930-8760FCA7A160}">
      <dgm:prSet/>
      <dgm:spPr/>
      <dgm:t>
        <a:bodyPr/>
        <a:lstStyle/>
        <a:p>
          <a:endParaRPr lang="en-US"/>
        </a:p>
      </dgm:t>
    </dgm:pt>
    <dgm:pt modelId="{7B3CC11C-52EB-426C-83C7-378E37407DA5}" type="pres">
      <dgm:prSet presAssocID="{47D9C4C6-67AC-411D-A058-4FD46F2D8A72}" presName="root" presStyleCnt="0">
        <dgm:presLayoutVars>
          <dgm:dir/>
          <dgm:resizeHandles val="exact"/>
        </dgm:presLayoutVars>
      </dgm:prSet>
      <dgm:spPr/>
    </dgm:pt>
    <dgm:pt modelId="{C612C0EB-0140-477D-AB4F-8148B312D92B}" type="pres">
      <dgm:prSet presAssocID="{F5B90A0B-E3E0-4780-802E-C7582ED529DA}" presName="compNode" presStyleCnt="0"/>
      <dgm:spPr/>
    </dgm:pt>
    <dgm:pt modelId="{AF2477A9-8009-426C-8DA0-CBC7CC3136F3}" type="pres">
      <dgm:prSet presAssocID="{F5B90A0B-E3E0-4780-802E-C7582ED529D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rtager avec un remplissage uni"/>
        </a:ext>
      </dgm:extLst>
    </dgm:pt>
    <dgm:pt modelId="{0FE6444F-500A-4451-8B6A-8D5A489A3C61}" type="pres">
      <dgm:prSet presAssocID="{F5B90A0B-E3E0-4780-802E-C7582ED529DA}" presName="spaceRect" presStyleCnt="0"/>
      <dgm:spPr/>
    </dgm:pt>
    <dgm:pt modelId="{B77B07C3-B058-4BE1-8138-24109E56F492}" type="pres">
      <dgm:prSet presAssocID="{F5B90A0B-E3E0-4780-802E-C7582ED529DA}" presName="textRect" presStyleLbl="revTx" presStyleIdx="0" presStyleCnt="2">
        <dgm:presLayoutVars>
          <dgm:chMax val="1"/>
          <dgm:chPref val="1"/>
        </dgm:presLayoutVars>
      </dgm:prSet>
      <dgm:spPr/>
    </dgm:pt>
    <dgm:pt modelId="{2D88C318-093A-4068-9200-A83021B134BB}" type="pres">
      <dgm:prSet presAssocID="{9708ED70-E141-414E-8D40-6AFF9A7161F4}" presName="sibTrans" presStyleCnt="0"/>
      <dgm:spPr/>
    </dgm:pt>
    <dgm:pt modelId="{B445BB99-BC28-43B2-93E2-8801EE5F59E7}" type="pres">
      <dgm:prSet presAssocID="{20869E7D-287B-4154-84D3-16E74DF7A842}" presName="compNode" presStyleCnt="0"/>
      <dgm:spPr/>
    </dgm:pt>
    <dgm:pt modelId="{9BAFC2E2-3446-43B5-BD25-11474CBA3C12}" type="pres">
      <dgm:prSet presAssocID="{20869E7D-287B-4154-84D3-16E74DF7A84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7F6AA99E-90FC-4275-A46E-F6FC7817B728}" type="pres">
      <dgm:prSet presAssocID="{20869E7D-287B-4154-84D3-16E74DF7A842}" presName="spaceRect" presStyleCnt="0"/>
      <dgm:spPr/>
    </dgm:pt>
    <dgm:pt modelId="{E4F05F86-215D-47B4-AEE0-F829460D6094}" type="pres">
      <dgm:prSet presAssocID="{20869E7D-287B-4154-84D3-16E74DF7A84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6E8E406-EBC8-43B7-A513-1E24D0F7184C}" type="presOf" srcId="{F5B90A0B-E3E0-4780-802E-C7582ED529DA}" destId="{B77B07C3-B058-4BE1-8138-24109E56F492}" srcOrd="0" destOrd="0" presId="urn:microsoft.com/office/officeart/2018/2/layout/IconLabelList"/>
    <dgm:cxn modelId="{8A392654-9F89-4AC2-A930-8760FCA7A160}" srcId="{47D9C4C6-67AC-411D-A058-4FD46F2D8A72}" destId="{20869E7D-287B-4154-84D3-16E74DF7A842}" srcOrd="1" destOrd="0" parTransId="{38C5D93E-6962-4392-B4F9-B2C1F898D253}" sibTransId="{026A120A-EA22-4601-B76E-B6D0671A7A7D}"/>
    <dgm:cxn modelId="{F4128FA3-41C4-4C9A-B5AF-664B80BF39B2}" type="presOf" srcId="{20869E7D-287B-4154-84D3-16E74DF7A842}" destId="{E4F05F86-215D-47B4-AEE0-F829460D6094}" srcOrd="0" destOrd="0" presId="urn:microsoft.com/office/officeart/2018/2/layout/IconLabelList"/>
    <dgm:cxn modelId="{C4B08AAA-487A-4B0A-8738-0326F1E52F4C}" srcId="{47D9C4C6-67AC-411D-A058-4FD46F2D8A72}" destId="{F5B90A0B-E3E0-4780-802E-C7582ED529DA}" srcOrd="0" destOrd="0" parTransId="{68B9F588-92EE-44D5-9400-83FCA3E32AC3}" sibTransId="{9708ED70-E141-414E-8D40-6AFF9A7161F4}"/>
    <dgm:cxn modelId="{333393D2-86F1-4A9F-BC27-3D718C433932}" type="presOf" srcId="{47D9C4C6-67AC-411D-A058-4FD46F2D8A72}" destId="{7B3CC11C-52EB-426C-83C7-378E37407DA5}" srcOrd="0" destOrd="0" presId="urn:microsoft.com/office/officeart/2018/2/layout/IconLabelList"/>
    <dgm:cxn modelId="{73B3E842-6B8C-489B-8ABA-7B71596C0048}" type="presParOf" srcId="{7B3CC11C-52EB-426C-83C7-378E37407DA5}" destId="{C612C0EB-0140-477D-AB4F-8148B312D92B}" srcOrd="0" destOrd="0" presId="urn:microsoft.com/office/officeart/2018/2/layout/IconLabelList"/>
    <dgm:cxn modelId="{89D678C2-2854-47D8-B2ED-3C6CB646A4A7}" type="presParOf" srcId="{C612C0EB-0140-477D-AB4F-8148B312D92B}" destId="{AF2477A9-8009-426C-8DA0-CBC7CC3136F3}" srcOrd="0" destOrd="0" presId="urn:microsoft.com/office/officeart/2018/2/layout/IconLabelList"/>
    <dgm:cxn modelId="{97D77A96-93FD-4A18-85A7-C2DA77DFFC54}" type="presParOf" srcId="{C612C0EB-0140-477D-AB4F-8148B312D92B}" destId="{0FE6444F-500A-4451-8B6A-8D5A489A3C61}" srcOrd="1" destOrd="0" presId="urn:microsoft.com/office/officeart/2018/2/layout/IconLabelList"/>
    <dgm:cxn modelId="{79736B95-62A1-4E20-B937-DED2692510D6}" type="presParOf" srcId="{C612C0EB-0140-477D-AB4F-8148B312D92B}" destId="{B77B07C3-B058-4BE1-8138-24109E56F492}" srcOrd="2" destOrd="0" presId="urn:microsoft.com/office/officeart/2018/2/layout/IconLabelList"/>
    <dgm:cxn modelId="{581BD936-32C1-41BB-8D1A-1B03A3F2C7BA}" type="presParOf" srcId="{7B3CC11C-52EB-426C-83C7-378E37407DA5}" destId="{2D88C318-093A-4068-9200-A83021B134BB}" srcOrd="1" destOrd="0" presId="urn:microsoft.com/office/officeart/2018/2/layout/IconLabelList"/>
    <dgm:cxn modelId="{A68F6280-67DC-48DC-A5A9-06E6C32C4342}" type="presParOf" srcId="{7B3CC11C-52EB-426C-83C7-378E37407DA5}" destId="{B445BB99-BC28-43B2-93E2-8801EE5F59E7}" srcOrd="2" destOrd="0" presId="urn:microsoft.com/office/officeart/2018/2/layout/IconLabelList"/>
    <dgm:cxn modelId="{5ACE366F-2580-4713-AAC4-720DA27A3F04}" type="presParOf" srcId="{B445BB99-BC28-43B2-93E2-8801EE5F59E7}" destId="{9BAFC2E2-3446-43B5-BD25-11474CBA3C12}" srcOrd="0" destOrd="0" presId="urn:microsoft.com/office/officeart/2018/2/layout/IconLabelList"/>
    <dgm:cxn modelId="{D2E61B1C-0D56-4C02-8124-D274516359BA}" type="presParOf" srcId="{B445BB99-BC28-43B2-93E2-8801EE5F59E7}" destId="{7F6AA99E-90FC-4275-A46E-F6FC7817B728}" srcOrd="1" destOrd="0" presId="urn:microsoft.com/office/officeart/2018/2/layout/IconLabelList"/>
    <dgm:cxn modelId="{9EDBDFEA-D963-487D-92C6-10833FF829FA}" type="presParOf" srcId="{B445BB99-BC28-43B2-93E2-8801EE5F59E7}" destId="{E4F05F86-215D-47B4-AEE0-F829460D609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2AB18E-EF36-451A-8498-E537B10D490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99C172-85BE-424E-B0CC-21870E9095BB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i="1" dirty="0">
              <a:solidFill>
                <a:srgbClr val="002060"/>
              </a:solidFill>
            </a:rPr>
            <a:t>Un script </a:t>
          </a:r>
          <a:r>
            <a:rPr lang="fr-FR" i="1" dirty="0" err="1">
              <a:solidFill>
                <a:srgbClr val="002060"/>
              </a:solidFill>
            </a:rPr>
            <a:t>bash</a:t>
          </a:r>
          <a:r>
            <a:rPr lang="fr-FR" i="1" dirty="0">
              <a:solidFill>
                <a:srgbClr val="002060"/>
              </a:solidFill>
            </a:rPr>
            <a:t> exécute quotidiennement  la sauvegarde des données depuis la </a:t>
          </a:r>
          <a:r>
            <a:rPr lang="fr-FR" i="1" dirty="0" err="1">
              <a:solidFill>
                <a:srgbClr val="002060"/>
              </a:solidFill>
            </a:rPr>
            <a:t>vm</a:t>
          </a:r>
          <a:r>
            <a:rPr lang="fr-FR" i="1" dirty="0">
              <a:solidFill>
                <a:srgbClr val="002060"/>
              </a:solidFill>
            </a:rPr>
            <a:t> de simulation vers le serveur de stockage.</a:t>
          </a:r>
          <a:endParaRPr lang="en-US" i="1" dirty="0">
            <a:solidFill>
              <a:srgbClr val="002060"/>
            </a:solidFill>
          </a:endParaRPr>
        </a:p>
      </dgm:t>
    </dgm:pt>
    <dgm:pt modelId="{8AD0F87D-0289-4A89-8A14-E86C985CF2E7}" type="parTrans" cxnId="{FBE8AADB-1C08-409D-9960-CF55C65BD3EC}">
      <dgm:prSet/>
      <dgm:spPr/>
      <dgm:t>
        <a:bodyPr/>
        <a:lstStyle/>
        <a:p>
          <a:endParaRPr lang="en-US"/>
        </a:p>
      </dgm:t>
    </dgm:pt>
    <dgm:pt modelId="{D1F7798A-D6FB-4C76-85E6-F4103C61DC05}" type="sibTrans" cxnId="{FBE8AADB-1C08-409D-9960-CF55C65BD3E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FE655A-C411-4673-AD52-6036D97B659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i="1" dirty="0">
              <a:solidFill>
                <a:srgbClr val="002060"/>
              </a:solidFill>
            </a:rPr>
            <a:t>Les journaux d’exécution sont enregistrés dans le dossier /home/walid/LOG sur la </a:t>
          </a:r>
          <a:r>
            <a:rPr lang="fr-FR" i="1" dirty="0" err="1">
              <a:solidFill>
                <a:srgbClr val="002060"/>
              </a:solidFill>
            </a:rPr>
            <a:t>vm</a:t>
          </a:r>
          <a:r>
            <a:rPr lang="fr-FR" i="1" dirty="0">
              <a:solidFill>
                <a:srgbClr val="002060"/>
              </a:solidFill>
            </a:rPr>
            <a:t> de simulation.</a:t>
          </a:r>
          <a:endParaRPr lang="en-US" i="1" dirty="0">
            <a:solidFill>
              <a:srgbClr val="002060"/>
            </a:solidFill>
          </a:endParaRPr>
        </a:p>
      </dgm:t>
    </dgm:pt>
    <dgm:pt modelId="{640ABD8F-D18A-4809-835E-F97CDE1662E5}" type="parTrans" cxnId="{DB8D31E2-34ED-465A-B36D-698680D9F79C}">
      <dgm:prSet/>
      <dgm:spPr/>
      <dgm:t>
        <a:bodyPr/>
        <a:lstStyle/>
        <a:p>
          <a:endParaRPr lang="en-US"/>
        </a:p>
      </dgm:t>
    </dgm:pt>
    <dgm:pt modelId="{B464BD9A-ACBA-43F8-8859-1C4A36A784FE}" type="sibTrans" cxnId="{DB8D31E2-34ED-465A-B36D-698680D9F79C}">
      <dgm:prSet/>
      <dgm:spPr/>
      <dgm:t>
        <a:bodyPr/>
        <a:lstStyle/>
        <a:p>
          <a:endParaRPr lang="en-US"/>
        </a:p>
      </dgm:t>
    </dgm:pt>
    <dgm:pt modelId="{D166FD76-CEFE-4601-B1BE-4C972100BFB7}" type="pres">
      <dgm:prSet presAssocID="{6D2AB18E-EF36-451A-8498-E537B10D4902}" presName="root" presStyleCnt="0">
        <dgm:presLayoutVars>
          <dgm:dir/>
          <dgm:resizeHandles val="exact"/>
        </dgm:presLayoutVars>
      </dgm:prSet>
      <dgm:spPr/>
    </dgm:pt>
    <dgm:pt modelId="{E490F88C-FDD5-4A0F-B178-766D3AB16634}" type="pres">
      <dgm:prSet presAssocID="{6D2AB18E-EF36-451A-8498-E537B10D4902}" presName="container" presStyleCnt="0">
        <dgm:presLayoutVars>
          <dgm:dir/>
          <dgm:resizeHandles val="exact"/>
        </dgm:presLayoutVars>
      </dgm:prSet>
      <dgm:spPr/>
    </dgm:pt>
    <dgm:pt modelId="{9987CAF3-2FC8-46CF-8BFD-CE03227F8988}" type="pres">
      <dgm:prSet presAssocID="{9B99C172-85BE-424E-B0CC-21870E9095BB}" presName="compNode" presStyleCnt="0"/>
      <dgm:spPr/>
    </dgm:pt>
    <dgm:pt modelId="{01C04592-5528-47E9-B2B1-387305248392}" type="pres">
      <dgm:prSet presAssocID="{9B99C172-85BE-424E-B0CC-21870E9095BB}" presName="iconBgRect" presStyleLbl="bgShp" presStyleIdx="0" presStyleCnt="2"/>
      <dgm:spPr/>
    </dgm:pt>
    <dgm:pt modelId="{6527E373-FB5C-42C4-BAAB-91DE6D84A6BE}" type="pres">
      <dgm:prSet presAssocID="{9B99C172-85BE-424E-B0CC-21870E9095B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585AC227-D964-4B34-A1D2-056804096732}" type="pres">
      <dgm:prSet presAssocID="{9B99C172-85BE-424E-B0CC-21870E9095BB}" presName="spaceRect" presStyleCnt="0"/>
      <dgm:spPr/>
    </dgm:pt>
    <dgm:pt modelId="{6840A6AA-DFA2-4949-B0F7-0AB8CB99CF62}" type="pres">
      <dgm:prSet presAssocID="{9B99C172-85BE-424E-B0CC-21870E9095BB}" presName="textRect" presStyleLbl="revTx" presStyleIdx="0" presStyleCnt="2">
        <dgm:presLayoutVars>
          <dgm:chMax val="1"/>
          <dgm:chPref val="1"/>
        </dgm:presLayoutVars>
      </dgm:prSet>
      <dgm:spPr/>
    </dgm:pt>
    <dgm:pt modelId="{87ECB6BA-9F1E-4420-A25A-4283089CF00D}" type="pres">
      <dgm:prSet presAssocID="{D1F7798A-D6FB-4C76-85E6-F4103C61DC05}" presName="sibTrans" presStyleLbl="sibTrans2D1" presStyleIdx="0" presStyleCnt="0"/>
      <dgm:spPr/>
    </dgm:pt>
    <dgm:pt modelId="{54056ED6-4A69-4150-B26D-5ACE8C5B7A81}" type="pres">
      <dgm:prSet presAssocID="{C7FE655A-C411-4673-AD52-6036D97B659D}" presName="compNode" presStyleCnt="0"/>
      <dgm:spPr/>
    </dgm:pt>
    <dgm:pt modelId="{F83CA7F2-453B-443B-9994-B376BB351EC7}" type="pres">
      <dgm:prSet presAssocID="{C7FE655A-C411-4673-AD52-6036D97B659D}" presName="iconBgRect" presStyleLbl="bgShp" presStyleIdx="1" presStyleCnt="2"/>
      <dgm:spPr/>
    </dgm:pt>
    <dgm:pt modelId="{9E70BD5F-702F-448B-9103-27420F89C4C8}" type="pres">
      <dgm:prSet presAssocID="{C7FE655A-C411-4673-AD52-6036D97B659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B3FC7DD-32B0-4683-8CF9-4CA28F6A49EF}" type="pres">
      <dgm:prSet presAssocID="{C7FE655A-C411-4673-AD52-6036D97B659D}" presName="spaceRect" presStyleCnt="0"/>
      <dgm:spPr/>
    </dgm:pt>
    <dgm:pt modelId="{20F6B3C2-4682-42F2-99F9-F0AC2D8377BC}" type="pres">
      <dgm:prSet presAssocID="{C7FE655A-C411-4673-AD52-6036D97B659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764EE67-B5EB-42E3-83CF-52639AEEC908}" type="presOf" srcId="{9B99C172-85BE-424E-B0CC-21870E9095BB}" destId="{6840A6AA-DFA2-4949-B0F7-0AB8CB99CF62}" srcOrd="0" destOrd="0" presId="urn:microsoft.com/office/officeart/2018/2/layout/IconCircleList"/>
    <dgm:cxn modelId="{45B61F49-2FDA-410A-A4D4-BEEA18C25AF8}" type="presOf" srcId="{6D2AB18E-EF36-451A-8498-E537B10D4902}" destId="{D166FD76-CEFE-4601-B1BE-4C972100BFB7}" srcOrd="0" destOrd="0" presId="urn:microsoft.com/office/officeart/2018/2/layout/IconCircleList"/>
    <dgm:cxn modelId="{22A54C81-292A-458A-AF2A-B7388BD98A3D}" type="presOf" srcId="{C7FE655A-C411-4673-AD52-6036D97B659D}" destId="{20F6B3C2-4682-42F2-99F9-F0AC2D8377BC}" srcOrd="0" destOrd="0" presId="urn:microsoft.com/office/officeart/2018/2/layout/IconCircleList"/>
    <dgm:cxn modelId="{1C03B8B8-F794-4535-BE82-90FB0CDD0500}" type="presOf" srcId="{D1F7798A-D6FB-4C76-85E6-F4103C61DC05}" destId="{87ECB6BA-9F1E-4420-A25A-4283089CF00D}" srcOrd="0" destOrd="0" presId="urn:microsoft.com/office/officeart/2018/2/layout/IconCircleList"/>
    <dgm:cxn modelId="{FBE8AADB-1C08-409D-9960-CF55C65BD3EC}" srcId="{6D2AB18E-EF36-451A-8498-E537B10D4902}" destId="{9B99C172-85BE-424E-B0CC-21870E9095BB}" srcOrd="0" destOrd="0" parTransId="{8AD0F87D-0289-4A89-8A14-E86C985CF2E7}" sibTransId="{D1F7798A-D6FB-4C76-85E6-F4103C61DC05}"/>
    <dgm:cxn modelId="{DB8D31E2-34ED-465A-B36D-698680D9F79C}" srcId="{6D2AB18E-EF36-451A-8498-E537B10D4902}" destId="{C7FE655A-C411-4673-AD52-6036D97B659D}" srcOrd="1" destOrd="0" parTransId="{640ABD8F-D18A-4809-835E-F97CDE1662E5}" sibTransId="{B464BD9A-ACBA-43F8-8859-1C4A36A784FE}"/>
    <dgm:cxn modelId="{8654E484-2F58-41F5-9F77-C87897F9DD6B}" type="presParOf" srcId="{D166FD76-CEFE-4601-B1BE-4C972100BFB7}" destId="{E490F88C-FDD5-4A0F-B178-766D3AB16634}" srcOrd="0" destOrd="0" presId="urn:microsoft.com/office/officeart/2018/2/layout/IconCircleList"/>
    <dgm:cxn modelId="{69B47874-8EF8-4CAD-AA3E-CCA8FFBFB6E0}" type="presParOf" srcId="{E490F88C-FDD5-4A0F-B178-766D3AB16634}" destId="{9987CAF3-2FC8-46CF-8BFD-CE03227F8988}" srcOrd="0" destOrd="0" presId="urn:microsoft.com/office/officeart/2018/2/layout/IconCircleList"/>
    <dgm:cxn modelId="{CED12899-1344-45F3-82A3-C6B0FC8CB983}" type="presParOf" srcId="{9987CAF3-2FC8-46CF-8BFD-CE03227F8988}" destId="{01C04592-5528-47E9-B2B1-387305248392}" srcOrd="0" destOrd="0" presId="urn:microsoft.com/office/officeart/2018/2/layout/IconCircleList"/>
    <dgm:cxn modelId="{23F5B9E9-2E73-4470-9F27-DED8945B0BAB}" type="presParOf" srcId="{9987CAF3-2FC8-46CF-8BFD-CE03227F8988}" destId="{6527E373-FB5C-42C4-BAAB-91DE6D84A6BE}" srcOrd="1" destOrd="0" presId="urn:microsoft.com/office/officeart/2018/2/layout/IconCircleList"/>
    <dgm:cxn modelId="{3309B2A7-1060-4FB3-88FE-D58702A0F802}" type="presParOf" srcId="{9987CAF3-2FC8-46CF-8BFD-CE03227F8988}" destId="{585AC227-D964-4B34-A1D2-056804096732}" srcOrd="2" destOrd="0" presId="urn:microsoft.com/office/officeart/2018/2/layout/IconCircleList"/>
    <dgm:cxn modelId="{72E58BE9-A31A-4DC0-8977-416189F62C35}" type="presParOf" srcId="{9987CAF3-2FC8-46CF-8BFD-CE03227F8988}" destId="{6840A6AA-DFA2-4949-B0F7-0AB8CB99CF62}" srcOrd="3" destOrd="0" presId="urn:microsoft.com/office/officeart/2018/2/layout/IconCircleList"/>
    <dgm:cxn modelId="{D24BB3E3-54DD-4108-9F2D-988BCEA6CA21}" type="presParOf" srcId="{E490F88C-FDD5-4A0F-B178-766D3AB16634}" destId="{87ECB6BA-9F1E-4420-A25A-4283089CF00D}" srcOrd="1" destOrd="0" presId="urn:microsoft.com/office/officeart/2018/2/layout/IconCircleList"/>
    <dgm:cxn modelId="{B9748ED0-DB5B-400E-8BC5-31DBB63E4925}" type="presParOf" srcId="{E490F88C-FDD5-4A0F-B178-766D3AB16634}" destId="{54056ED6-4A69-4150-B26D-5ACE8C5B7A81}" srcOrd="2" destOrd="0" presId="urn:microsoft.com/office/officeart/2018/2/layout/IconCircleList"/>
    <dgm:cxn modelId="{C060B54F-C1E1-4C8D-8A8D-3B2BB1BAD548}" type="presParOf" srcId="{54056ED6-4A69-4150-B26D-5ACE8C5B7A81}" destId="{F83CA7F2-453B-443B-9994-B376BB351EC7}" srcOrd="0" destOrd="0" presId="urn:microsoft.com/office/officeart/2018/2/layout/IconCircleList"/>
    <dgm:cxn modelId="{790AD702-7062-41B9-90B6-D2E879E84BE1}" type="presParOf" srcId="{54056ED6-4A69-4150-B26D-5ACE8C5B7A81}" destId="{9E70BD5F-702F-448B-9103-27420F89C4C8}" srcOrd="1" destOrd="0" presId="urn:microsoft.com/office/officeart/2018/2/layout/IconCircleList"/>
    <dgm:cxn modelId="{6E9CF3D3-D3CC-4FC7-BD40-3B76812ED013}" type="presParOf" srcId="{54056ED6-4A69-4150-B26D-5ACE8C5B7A81}" destId="{BB3FC7DD-32B0-4683-8CF9-4CA28F6A49EF}" srcOrd="2" destOrd="0" presId="urn:microsoft.com/office/officeart/2018/2/layout/IconCircleList"/>
    <dgm:cxn modelId="{F4ADE202-1E3B-4017-BABF-73808B33C0EE}" type="presParOf" srcId="{54056ED6-4A69-4150-B26D-5ACE8C5B7A81}" destId="{20F6B3C2-4682-42F2-99F9-F0AC2D8377B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04592-5528-47E9-B2B1-387305248392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27E373-FB5C-42C4-BAAB-91DE6D84A6BE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0A6AA-DFA2-4949-B0F7-0AB8CB99CF62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i="1" kern="1200" dirty="0">
              <a:solidFill>
                <a:srgbClr val="002060"/>
              </a:solidFill>
            </a:rPr>
            <a:t>Un script </a:t>
          </a:r>
          <a:r>
            <a:rPr lang="fr-FR" sz="1700" i="1" kern="1200" dirty="0" err="1">
              <a:solidFill>
                <a:srgbClr val="002060"/>
              </a:solidFill>
            </a:rPr>
            <a:t>bash</a:t>
          </a:r>
          <a:r>
            <a:rPr lang="fr-FR" sz="1700" i="1" kern="1200" dirty="0">
              <a:solidFill>
                <a:srgbClr val="002060"/>
              </a:solidFill>
            </a:rPr>
            <a:t> exécute quotidiennement  la sauvegarde des données depuis la </a:t>
          </a:r>
          <a:r>
            <a:rPr lang="fr-FR" sz="1700" i="1" kern="1200" dirty="0" err="1">
              <a:solidFill>
                <a:srgbClr val="002060"/>
              </a:solidFill>
            </a:rPr>
            <a:t>vm</a:t>
          </a:r>
          <a:r>
            <a:rPr lang="fr-FR" sz="1700" i="1" kern="1200" dirty="0">
              <a:solidFill>
                <a:srgbClr val="002060"/>
              </a:solidFill>
            </a:rPr>
            <a:t> de simulation vers le serveur de stockage.</a:t>
          </a:r>
          <a:endParaRPr lang="en-US" sz="1700" i="1" kern="1200" dirty="0">
            <a:solidFill>
              <a:srgbClr val="002060"/>
            </a:solidFill>
          </a:endParaRPr>
        </a:p>
      </dsp:txBody>
      <dsp:txXfrm>
        <a:off x="1834517" y="1507711"/>
        <a:ext cx="3148942" cy="1335915"/>
      </dsp:txXfrm>
    </dsp:sp>
    <dsp:sp modelId="{F83CA7F2-453B-443B-9994-B376BB351EC7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0BD5F-702F-448B-9103-27420F89C4C8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6B3C2-4682-42F2-99F9-F0AC2D8377BC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i="1" kern="1200" dirty="0">
              <a:solidFill>
                <a:srgbClr val="002060"/>
              </a:solidFill>
            </a:rPr>
            <a:t>Les journaux d’exécution sont enregistrés dans le dossier /home/walid/LOG sur la </a:t>
          </a:r>
          <a:r>
            <a:rPr lang="fr-FR" sz="1700" i="1" kern="1200" dirty="0" err="1">
              <a:solidFill>
                <a:srgbClr val="002060"/>
              </a:solidFill>
            </a:rPr>
            <a:t>vm</a:t>
          </a:r>
          <a:r>
            <a:rPr lang="fr-FR" sz="1700" i="1" kern="1200" dirty="0">
              <a:solidFill>
                <a:srgbClr val="002060"/>
              </a:solidFill>
            </a:rPr>
            <a:t> de simulation.</a:t>
          </a:r>
          <a:endParaRPr lang="en-US" sz="1700" i="1" kern="1200" dirty="0">
            <a:solidFill>
              <a:srgbClr val="002060"/>
            </a:solidFill>
          </a:endParaRPr>
        </a:p>
      </dsp:txBody>
      <dsp:txXfrm>
        <a:off x="7154322" y="1507711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2477A9-8009-426C-8DA0-CBC7CC3136F3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B07C3-B058-4BE1-8138-24109E56F492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rgbClr val="002060"/>
              </a:solidFill>
            </a:rPr>
            <a:t>Les sauvegardes anciennes (au-delà des deux plus récentes) sont déplacées vers un répertoire </a:t>
          </a:r>
          <a:r>
            <a:rPr lang="fr-FR" sz="1500" b="1" kern="1200" dirty="0">
              <a:solidFill>
                <a:srgbClr val="002060"/>
              </a:solidFill>
            </a:rPr>
            <a:t>ARCHIVES</a:t>
          </a:r>
          <a:endParaRPr lang="en-US" sz="1500" kern="1200" dirty="0">
            <a:solidFill>
              <a:srgbClr val="002060"/>
            </a:solidFill>
          </a:endParaRPr>
        </a:p>
      </dsp:txBody>
      <dsp:txXfrm>
        <a:off x="559800" y="3022743"/>
        <a:ext cx="4320000" cy="720000"/>
      </dsp:txXfrm>
    </dsp:sp>
    <dsp:sp modelId="{9BAFC2E2-3446-43B5-BD25-11474CBA3C12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05F86-215D-47B4-AEE0-F829460D6094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rgbClr val="002060"/>
              </a:solidFill>
            </a:rPr>
            <a:t>Les archives les plus anciennes sont automatiquement supprimées </a:t>
          </a:r>
          <a:endParaRPr lang="en-US" sz="1500" kern="1200" dirty="0">
            <a:solidFill>
              <a:srgbClr val="002060"/>
            </a:solidFill>
          </a:endParaRPr>
        </a:p>
      </dsp:txBody>
      <dsp:txXfrm>
        <a:off x="5635800" y="3022743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04592-5528-47E9-B2B1-387305248392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27E373-FB5C-42C4-BAAB-91DE6D84A6BE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0A6AA-DFA2-4949-B0F7-0AB8CB99CF62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i="1" kern="1200" dirty="0">
              <a:solidFill>
                <a:srgbClr val="002060"/>
              </a:solidFill>
            </a:rPr>
            <a:t>Un script </a:t>
          </a:r>
          <a:r>
            <a:rPr lang="fr-FR" sz="1700" i="1" kern="1200" dirty="0" err="1">
              <a:solidFill>
                <a:srgbClr val="002060"/>
              </a:solidFill>
            </a:rPr>
            <a:t>bash</a:t>
          </a:r>
          <a:r>
            <a:rPr lang="fr-FR" sz="1700" i="1" kern="1200" dirty="0">
              <a:solidFill>
                <a:srgbClr val="002060"/>
              </a:solidFill>
            </a:rPr>
            <a:t> exécute quotidiennement  la sauvegarde des données depuis la </a:t>
          </a:r>
          <a:r>
            <a:rPr lang="fr-FR" sz="1700" i="1" kern="1200" dirty="0" err="1">
              <a:solidFill>
                <a:srgbClr val="002060"/>
              </a:solidFill>
            </a:rPr>
            <a:t>vm</a:t>
          </a:r>
          <a:r>
            <a:rPr lang="fr-FR" sz="1700" i="1" kern="1200" dirty="0">
              <a:solidFill>
                <a:srgbClr val="002060"/>
              </a:solidFill>
            </a:rPr>
            <a:t> de simulation vers le serveur de stockage.</a:t>
          </a:r>
          <a:endParaRPr lang="en-US" sz="1700" i="1" kern="1200" dirty="0">
            <a:solidFill>
              <a:srgbClr val="002060"/>
            </a:solidFill>
          </a:endParaRPr>
        </a:p>
      </dsp:txBody>
      <dsp:txXfrm>
        <a:off x="1834517" y="1507711"/>
        <a:ext cx="3148942" cy="1335915"/>
      </dsp:txXfrm>
    </dsp:sp>
    <dsp:sp modelId="{F83CA7F2-453B-443B-9994-B376BB351EC7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0BD5F-702F-448B-9103-27420F89C4C8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6B3C2-4682-42F2-99F9-F0AC2D8377BC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i="1" kern="1200" dirty="0">
              <a:solidFill>
                <a:srgbClr val="002060"/>
              </a:solidFill>
            </a:rPr>
            <a:t>Les journaux d’exécution sont enregistrés dans le dossier /home/walid/LOG sur la </a:t>
          </a:r>
          <a:r>
            <a:rPr lang="fr-FR" sz="1700" i="1" kern="1200" dirty="0" err="1">
              <a:solidFill>
                <a:srgbClr val="002060"/>
              </a:solidFill>
            </a:rPr>
            <a:t>vm</a:t>
          </a:r>
          <a:r>
            <a:rPr lang="fr-FR" sz="1700" i="1" kern="1200" dirty="0">
              <a:solidFill>
                <a:srgbClr val="002060"/>
              </a:solidFill>
            </a:rPr>
            <a:t> de simulation.</a:t>
          </a:r>
          <a:endParaRPr lang="en-US" sz="1700" i="1" kern="1200" dirty="0">
            <a:solidFill>
              <a:srgbClr val="002060"/>
            </a:solidFill>
          </a:endParaRPr>
        </a:p>
      </dsp:txBody>
      <dsp:txXfrm>
        <a:off x="7154322" y="1507711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3CFF0-8D27-4BD2-9C0D-8989B485DF53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D8A43-AB61-46E0-9A0A-39D3B60341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209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7CD30-2D0B-3A65-93B6-27860068A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9F8FA83-330C-8851-A06E-B061C35E6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A32A8D-48C5-5DF0-6798-53292FC6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22DF-1430-400C-B6E6-8A3D0DE9E007}" type="datetime1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8596C7-C1ED-5E60-7399-E4A89317D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FF6E57-538C-54EB-6E42-41FDEE5B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5370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32D83-F0E9-7A49-02D7-C88FDB82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FA524E-8FC3-A9AA-E4D3-7204708D9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A4E71C-8969-D77A-8F57-A7312D572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33A5-F40D-43A7-B414-AA223F269E6D}" type="datetime1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18661D-56EE-8B13-EA89-53A1FBD2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D97650-CF2A-FEBE-4E17-091C28E1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494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96EE3D-4053-1BA0-02DE-F8D65F5D8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29F692-D627-172D-5641-0CD1FCEDF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8B813F-9FD2-BBBA-7482-A87911F77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CB15-6C4B-403B-B99B-44839E157FFC}" type="datetime1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884BD5-BD07-E6EA-9839-8E4583073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DD1405-B8A7-5F10-B829-9F40C16F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91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8050E0-F365-262C-87DD-531CA14F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F0CF6B-D01F-9940-3C5E-012464E57D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67EC8E-DCA7-37EB-6FF7-019986629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50312A-2044-9A17-2ED3-F5F4C383F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6BFA-A87F-4BEF-9A04-AD567737E892}" type="datetime1">
              <a:rPr lang="fr-FR" smtClean="0"/>
              <a:t>13/01/2025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EC8C7F-D623-35C2-CD5A-96E845A9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B00C04-A679-CBEF-8B9B-8C9CAB40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46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15F2F-7CB7-4A52-8725-09CC226B1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9A40B5-5005-63FC-8910-BC90AC7FA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B4DE60-5B89-81EE-EA3D-073D012D0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C824A88-ACA0-B3E0-2A73-243F9F364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B2A8EB6-CD5F-C62F-6463-C7556ECEA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BE2D7C0-346B-A60D-6955-1F80F8C6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A675D-AE4F-4887-8AEA-3ED33D4C2F85}" type="datetime1">
              <a:rPr lang="fr-FR" smtClean="0"/>
              <a:t>13/01/2025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4435ED9-41DA-3FAA-557D-29F7122F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EE0EF48-3A84-EFE9-D779-6C3BF6FC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7577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BD80D9-670E-3AA1-D5F6-6CCBBB5F4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719F9C5-44D4-2897-7E35-121F2FD3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AD36E-42C9-4F6B-A0B8-2814680B8087}" type="datetime1">
              <a:rPr lang="fr-FR" smtClean="0"/>
              <a:t>13/01/2025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FBFABC-90C9-90F8-03DD-34FCF9E0C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6C9F34-27CF-9F97-D1FF-0F88D9DCE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765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66AC8AD-2EF3-B412-D3CE-3C976F1F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CACF-0F43-44E9-A1EB-3EA8902CBFB9}" type="datetime1">
              <a:rPr lang="fr-FR" smtClean="0"/>
              <a:t>13/01/2025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66FB1E-41A7-CC62-3D94-5878A8F2E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77AECC-2050-9070-F3C0-5C27F7702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26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CBCE13-04FF-CD57-9225-91D671C9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FE562A-2E29-F04B-0FBE-286DF5CAB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B2DF7CF-503E-004C-BFE4-493B286F8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775B82-57A5-95A3-BBD3-2B163502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10328-26EF-49F5-9F1A-D75185172351}" type="datetime1">
              <a:rPr lang="fr-FR" smtClean="0"/>
              <a:t>13/01/2025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41F410-509B-FDC1-F887-6D6152A04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C05902-F87D-1D53-7A42-2CF548E3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799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ED3CEA-7CF8-4D34-5635-04AD7C54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06276AD-7DE9-F2DA-3154-10692B101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113932-5DD8-DC86-BB36-DDD37B90F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1A357D-0433-D4CF-9A3E-27938BEB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C8827-F2B2-4DFE-80E6-7490DF877788}" type="datetime1">
              <a:rPr lang="fr-FR" smtClean="0"/>
              <a:t>13/01/2025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CA0AED-7B27-F9F8-7F24-31F709F4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1A1A84-23D8-02E4-69B2-4FB327BD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48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595636-D474-A96F-870C-B00FB717C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26D2E0-BDE9-68E3-E0E9-AC9681C45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61DEF3-DA05-FC83-B667-5FF78A25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5CAE-58EC-4F2D-A0ED-93FEA047367E}" type="datetime1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B7D52-00BC-59E5-2C8B-EDAE465D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D4F088-30B3-4D49-1168-0E10DB1B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682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4AB7A1B-004C-0314-8DB8-CFB6F6111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81413E-FEA4-F1E3-3A2F-B7DBFA34D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33E9F0-BC40-5C7E-2565-4F5A6304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6553-CAC5-4928-806B-EE6E401E91D7}" type="datetime1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262A0F-5A10-EBA2-335C-5ECAFE79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C3DCB7-A8BF-4AEE-AA8B-0E8D1AEB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701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7C13DC0-0544-C371-35D6-6A2C1CE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B80BBF-9291-E84E-3AC3-677E9B925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3FFCD2-B7DE-A771-B026-D4C89B5F7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883EF-AC65-434D-B308-D841C3B566E1}" type="datetime1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96EBAD-07E9-3D8C-5D11-8AD74EB41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AC443A-46C9-2FDA-A47D-5E7AF2C40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A1CC2-217B-41FE-9C7F-1356E133BA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209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openclassrooms.com/fr/paths/734/projects/1388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77EF1-E166-0269-DEC9-86AD390A2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2532" y="1408853"/>
            <a:ext cx="7766936" cy="2332103"/>
          </a:xfrm>
        </p:spPr>
        <p:txBody>
          <a:bodyPr>
            <a:noAutofit/>
          </a:bodyPr>
          <a:lstStyle/>
          <a:p>
            <a:r>
              <a:rPr lang="fr-FR" sz="4000" b="1" u="sng">
                <a:solidFill>
                  <a:srgbClr val="002060"/>
                </a:solidFill>
              </a:rPr>
              <a:t>Projet n°10 : </a:t>
            </a:r>
            <a:br>
              <a:rPr lang="fr-FR" sz="4000" b="1" u="sng">
                <a:solidFill>
                  <a:srgbClr val="002060"/>
                </a:solidFill>
              </a:rPr>
            </a:br>
            <a:r>
              <a:rPr lang="fr-FR" sz="4000" b="1" u="sng" strike="noStrike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Mettez en place une nouvelle solution de sauvegarde</a:t>
            </a:r>
            <a:endParaRPr lang="fr-FR" sz="4000" dirty="0">
              <a:solidFill>
                <a:srgbClr val="002060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F3396CE-43C1-D8D4-F7D0-3DBBC4FE2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0844" y="5799667"/>
            <a:ext cx="9144000" cy="1058333"/>
          </a:xfrm>
        </p:spPr>
        <p:txBody>
          <a:bodyPr>
            <a:normAutofit/>
          </a:bodyPr>
          <a:lstStyle/>
          <a:p>
            <a:pPr algn="l"/>
            <a:r>
              <a:rPr lang="fr-FR" sz="2000" b="1">
                <a:solidFill>
                  <a:srgbClr val="002060"/>
                </a:solidFill>
              </a:rPr>
              <a:t>Walid Rhouma</a:t>
            </a:r>
          </a:p>
          <a:p>
            <a:pPr algn="l"/>
            <a:r>
              <a:rPr lang="fr-FR" sz="2000" i="1">
                <a:solidFill>
                  <a:srgbClr val="002060"/>
                </a:solidFill>
              </a:rPr>
              <a:t>Administrateur systèmes et réseaux</a:t>
            </a:r>
            <a:r>
              <a:rPr lang="fr-FR" sz="2000" b="1">
                <a:solidFill>
                  <a:srgbClr val="002060"/>
                </a:solidFill>
              </a:rPr>
              <a:t>	</a:t>
            </a:r>
          </a:p>
          <a:p>
            <a:pPr algn="l"/>
            <a:endParaRPr lang="fr-FR" sz="2000" b="1" i="1" dirty="0">
              <a:solidFill>
                <a:srgbClr val="002060"/>
              </a:solidFill>
            </a:endParaRPr>
          </a:p>
        </p:txBody>
      </p:sp>
      <p:pic>
        <p:nvPicPr>
          <p:cNvPr id="5" name="Image 4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87583386-95D1-4155-2B4D-FDF72EC77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89177" cy="45693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A2C827-95F8-3AE6-1D5D-C9BF7BD53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0796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784C9C-7EC3-E9FF-5B0B-44C44F8ED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9884" y="1194859"/>
            <a:ext cx="8263467" cy="68259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dirty="0">
                <a:solidFill>
                  <a:srgbClr val="002060"/>
                </a:solidFill>
              </a:rPr>
              <a:t>PLAN DE PRESENTATION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09C84D-7497-83A0-0D12-7C6FA16BD69E}"/>
              </a:ext>
            </a:extLst>
          </p:cNvPr>
          <p:cNvSpPr txBox="1"/>
          <p:nvPr/>
        </p:nvSpPr>
        <p:spPr>
          <a:xfrm>
            <a:off x="1373121" y="2450503"/>
            <a:ext cx="7838611" cy="3228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US" sz="2000" b="1" i="1" u="sng" dirty="0">
              <a:solidFill>
                <a:srgbClr val="002060"/>
              </a:solidFill>
            </a:endParaRP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b="1" i="1" dirty="0" err="1">
                <a:solidFill>
                  <a:srgbClr val="002060"/>
                </a:solidFill>
              </a:rPr>
              <a:t>Problématique</a:t>
            </a:r>
            <a:r>
              <a:rPr lang="en-US" sz="2000" b="1" i="1" dirty="0">
                <a:solidFill>
                  <a:srgbClr val="002060"/>
                </a:solidFill>
              </a:rPr>
              <a:t> </a:t>
            </a: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rgbClr val="002060"/>
                </a:solidFill>
              </a:rPr>
              <a:t>Flux </a:t>
            </a:r>
            <a:r>
              <a:rPr lang="en-US" sz="2000" b="1" i="1" dirty="0" err="1">
                <a:solidFill>
                  <a:srgbClr val="002060"/>
                </a:solidFill>
              </a:rPr>
              <a:t>rsync</a:t>
            </a:r>
            <a:endParaRPr lang="en-US" sz="2000" b="1" i="1" dirty="0">
              <a:solidFill>
                <a:srgbClr val="002060"/>
              </a:solidFill>
            </a:endParaRP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b="1" i="1" dirty="0" err="1">
                <a:solidFill>
                  <a:srgbClr val="002060"/>
                </a:solidFill>
              </a:rPr>
              <a:t>Stratégie</a:t>
            </a:r>
            <a:r>
              <a:rPr lang="en-US" sz="2000" b="1" i="1" dirty="0">
                <a:solidFill>
                  <a:srgbClr val="002060"/>
                </a:solidFill>
              </a:rPr>
              <a:t> 1 : </a:t>
            </a:r>
            <a:r>
              <a:rPr lang="en-US" sz="2000" b="1" i="1" dirty="0" err="1">
                <a:solidFill>
                  <a:srgbClr val="002060"/>
                </a:solidFill>
              </a:rPr>
              <a:t>Sauvegarde</a:t>
            </a:r>
            <a:r>
              <a:rPr lang="en-US" sz="2000" b="1" i="1" dirty="0">
                <a:solidFill>
                  <a:srgbClr val="002060"/>
                </a:solidFill>
              </a:rPr>
              <a:t> </a:t>
            </a:r>
            <a:r>
              <a:rPr lang="en-US" sz="2000" b="1" i="1" dirty="0" err="1">
                <a:solidFill>
                  <a:srgbClr val="002060"/>
                </a:solidFill>
              </a:rPr>
              <a:t>incrémentale</a:t>
            </a:r>
            <a:endParaRPr lang="en-US" sz="2000" b="1" i="1" dirty="0">
              <a:solidFill>
                <a:srgbClr val="002060"/>
              </a:solidFill>
            </a:endParaRP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b="1" i="1" dirty="0" err="1">
                <a:solidFill>
                  <a:srgbClr val="002060"/>
                </a:solidFill>
              </a:rPr>
              <a:t>Stratégie</a:t>
            </a:r>
            <a:r>
              <a:rPr lang="en-US" sz="2000" b="1" i="1" dirty="0">
                <a:solidFill>
                  <a:srgbClr val="002060"/>
                </a:solidFill>
              </a:rPr>
              <a:t> 2 : </a:t>
            </a:r>
            <a:r>
              <a:rPr lang="en-US" sz="2000" b="1" i="1" dirty="0" err="1">
                <a:solidFill>
                  <a:srgbClr val="002060"/>
                </a:solidFill>
              </a:rPr>
              <a:t>Sauvegarde</a:t>
            </a:r>
            <a:r>
              <a:rPr lang="en-US" sz="2000" b="1" i="1" dirty="0">
                <a:solidFill>
                  <a:srgbClr val="002060"/>
                </a:solidFill>
              </a:rPr>
              <a:t> </a:t>
            </a:r>
            <a:r>
              <a:rPr lang="en-US" sz="2000" b="1" i="1" dirty="0" err="1">
                <a:solidFill>
                  <a:srgbClr val="002060"/>
                </a:solidFill>
              </a:rPr>
              <a:t>différentielle</a:t>
            </a:r>
            <a:endParaRPr lang="en-US" sz="2000" b="1" i="1" dirty="0">
              <a:solidFill>
                <a:srgbClr val="002060"/>
              </a:solidFill>
            </a:endParaRP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b="1" i="1" dirty="0" err="1">
                <a:solidFill>
                  <a:srgbClr val="002060"/>
                </a:solidFill>
              </a:rPr>
              <a:t>Procédure</a:t>
            </a:r>
            <a:r>
              <a:rPr lang="en-US" sz="2000" b="1" i="1" dirty="0">
                <a:solidFill>
                  <a:srgbClr val="002060"/>
                </a:solidFill>
              </a:rPr>
              <a:t> de Restauration</a:t>
            </a: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rgbClr val="002060"/>
                </a:solidFill>
              </a:rPr>
              <a:t>Conclusion</a:t>
            </a: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endParaRPr lang="en-US" sz="2000" b="1" i="1" dirty="0">
              <a:solidFill>
                <a:srgbClr val="002060"/>
              </a:solidFill>
            </a:endParaRPr>
          </a:p>
        </p:txBody>
      </p:sp>
      <p:pic>
        <p:nvPicPr>
          <p:cNvPr id="9" name="Image 8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66466003-178B-BC16-D50C-607765FDA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510377" cy="463435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3EC19E5-3FE9-89C5-2234-7EF0F388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7968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FD0A30-D1E0-BCF0-0FCF-DCC65EE4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1676"/>
            <a:ext cx="10515600" cy="916137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3200" b="1" i="1" u="sng" dirty="0">
                <a:solidFill>
                  <a:srgbClr val="002060"/>
                </a:solidFill>
              </a:rPr>
              <a:t>Problématique : Mise en place de stratégies de sauvegardes adaptées aux technologies de virtualisation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4715D8D9-870E-0509-C17E-235F75E05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120" y="2722880"/>
            <a:ext cx="9758680" cy="359664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solidFill>
                  <a:srgbClr val="002060"/>
                </a:solidFill>
              </a:rPr>
              <a:t> Contexte :</a:t>
            </a:r>
          </a:p>
          <a:p>
            <a:pPr marL="0" indent="0">
              <a:buNone/>
            </a:pPr>
            <a:r>
              <a:rPr lang="fr-FR" sz="2400" b="0" i="0" dirty="0">
                <a:solidFill>
                  <a:srgbClr val="002060"/>
                </a:solidFill>
              </a:rPr>
              <a:t>La mairie exploite des environnements virtualisés, mais le logiciel de sauvegarde actuel est incompatible avec ces technologies</a:t>
            </a:r>
            <a:endParaRPr lang="fr-FR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solidFill>
                  <a:srgbClr val="002060"/>
                </a:solidFill>
              </a:rPr>
              <a:t> Besoin :</a:t>
            </a:r>
          </a:p>
          <a:p>
            <a:pPr marL="0" indent="0">
              <a:buNone/>
            </a:pPr>
            <a:r>
              <a:rPr lang="fr-FR" sz="2400" b="0" i="0" dirty="0">
                <a:solidFill>
                  <a:srgbClr val="002060"/>
                </a:solidFill>
              </a:rPr>
              <a:t>Garantir une sauvegarde fiable, rapide et sécurisée des données et des machines virtuelles</a:t>
            </a:r>
            <a:endParaRPr lang="fr-FR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solidFill>
                  <a:srgbClr val="002060"/>
                </a:solidFill>
              </a:rPr>
              <a:t> Objectif :</a:t>
            </a:r>
          </a:p>
          <a:p>
            <a:pPr marL="0" lvl="0" indent="0">
              <a:buNone/>
            </a:pPr>
            <a:r>
              <a:rPr lang="fr-FR" sz="2200" b="0" i="0" dirty="0">
                <a:solidFill>
                  <a:srgbClr val="002060"/>
                </a:solidFill>
              </a:rPr>
              <a:t>Tester deux stratégies de sauvegarde basées sur l’outil </a:t>
            </a:r>
            <a:r>
              <a:rPr lang="fr-FR" sz="2200" b="1" i="0" dirty="0" err="1">
                <a:solidFill>
                  <a:srgbClr val="002060"/>
                </a:solidFill>
              </a:rPr>
              <a:t>rsync</a:t>
            </a:r>
            <a:r>
              <a:rPr lang="fr-FR" sz="2200" b="0" i="0" dirty="0">
                <a:solidFill>
                  <a:srgbClr val="002060"/>
                </a:solidFill>
              </a:rPr>
              <a:t> :</a:t>
            </a:r>
          </a:p>
          <a:p>
            <a:pPr marL="0" lvl="0" indent="0">
              <a:buNone/>
            </a:pPr>
            <a:r>
              <a:rPr lang="fr-FR" sz="2200" dirty="0">
                <a:solidFill>
                  <a:srgbClr val="002060"/>
                </a:solidFill>
              </a:rPr>
              <a:t>	- Stratégie 1 : Sauvegarde des données spécifiques</a:t>
            </a:r>
          </a:p>
          <a:p>
            <a:pPr marL="0" lvl="0" indent="0">
              <a:buNone/>
            </a:pPr>
            <a:r>
              <a:rPr lang="fr-FR" sz="2200" dirty="0">
                <a:solidFill>
                  <a:srgbClr val="002060"/>
                </a:solidFill>
              </a:rPr>
              <a:t>	- Stratégie 2 : Sauvegarde complète des machines virtuelles</a:t>
            </a:r>
          </a:p>
          <a:p>
            <a:pPr marL="0" indent="0">
              <a:buNone/>
            </a:pPr>
            <a:endParaRPr lang="fr-FR" sz="20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fr-FR" dirty="0">
              <a:solidFill>
                <a:srgbClr val="002060"/>
              </a:solidFill>
            </a:endParaRPr>
          </a:p>
        </p:txBody>
      </p:sp>
      <p:pic>
        <p:nvPicPr>
          <p:cNvPr id="16" name="Image 15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0344F584-678D-2720-075D-D35E14137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7" y="95963"/>
            <a:ext cx="1442204" cy="442517"/>
          </a:xfrm>
          <a:prstGeom prst="rect">
            <a:avLst/>
          </a:prstGeom>
        </p:spPr>
      </p:pic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4A77607A-8179-EAE9-A177-02361C96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000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5DEA35-C6E7-959F-FC07-F3473644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55784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Schéma des flux </a:t>
            </a:r>
            <a:r>
              <a:rPr lang="fr-FR" dirty="0" err="1"/>
              <a:t>Rsync</a:t>
            </a:r>
            <a:r>
              <a:rPr lang="fr-FR" dirty="0"/>
              <a:t> / SH</a:t>
            </a:r>
          </a:p>
        </p:txBody>
      </p:sp>
      <p:pic>
        <p:nvPicPr>
          <p:cNvPr id="13" name="Espace réservé du contenu 12" descr="Une image contenant texte, capture d’écran, ligne, diagramme&#10;&#10;Description générée automatiquement">
            <a:extLst>
              <a:ext uri="{FF2B5EF4-FFF2-40B4-BE49-F238E27FC236}">
                <a16:creationId xmlns:a16="http://schemas.microsoft.com/office/drawing/2014/main" id="{A3015138-A5F6-CE76-AF96-34638778F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763044"/>
            <a:ext cx="8382000" cy="2476500"/>
          </a:xfrm>
          <a:ln>
            <a:solidFill>
              <a:schemeClr val="accent3">
                <a:lumMod val="50000"/>
              </a:schemeClr>
            </a:solidFill>
          </a:ln>
        </p:spPr>
      </p:pic>
      <p:sp>
        <p:nvSpPr>
          <p:cNvPr id="15" name="Titre 1">
            <a:extLst>
              <a:ext uri="{FF2B5EF4-FFF2-40B4-BE49-F238E27FC236}">
                <a16:creationId xmlns:a16="http://schemas.microsoft.com/office/drawing/2014/main" id="{63A44A2A-A51C-0C0B-16D7-7928C447737B}"/>
              </a:ext>
            </a:extLst>
          </p:cNvPr>
          <p:cNvSpPr txBox="1">
            <a:spLocks/>
          </p:cNvSpPr>
          <p:nvPr/>
        </p:nvSpPr>
        <p:spPr>
          <a:xfrm>
            <a:off x="838200" y="1301676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900" b="1" i="1" u="sng" dirty="0">
                <a:solidFill>
                  <a:srgbClr val="002060"/>
                </a:solidFill>
              </a:rPr>
              <a:t>Flux </a:t>
            </a:r>
            <a:r>
              <a:rPr lang="fr-FR" sz="2900" b="1" i="1" u="sng" dirty="0" err="1">
                <a:solidFill>
                  <a:srgbClr val="002060"/>
                </a:solidFill>
              </a:rPr>
              <a:t>rsync</a:t>
            </a:r>
            <a:r>
              <a:rPr lang="fr-FR" sz="2900" b="1" i="1" u="sng" dirty="0">
                <a:solidFill>
                  <a:srgbClr val="002060"/>
                </a:solidFill>
              </a:rPr>
              <a:t> couplés à SSH :</a:t>
            </a:r>
          </a:p>
        </p:txBody>
      </p:sp>
      <p:pic>
        <p:nvPicPr>
          <p:cNvPr id="17" name="Image 16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E71C5A5A-830E-D06F-54EC-7548EB80F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2"/>
            <a:ext cx="1508429" cy="462837"/>
          </a:xfrm>
          <a:prstGeom prst="rect">
            <a:avLst/>
          </a:prstGeom>
        </p:spPr>
      </p:pic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FA512A89-1BE4-8FB1-6F5C-04E3E2D1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473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A61B12-BAC1-5CD9-EB7D-0E9E288D8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000" dirty="0">
                <a:solidFill>
                  <a:srgbClr val="002060"/>
                </a:solidFill>
              </a:rPr>
              <a:t>Cette stratégie vise à sauvegarder uniquement les données modifiées ou ajoutées depuis la dernière sauvegarde, qu'elle soit complète ou incrémentale. Cela permet de conserver les versions N et N-1 de chaque fichier.</a:t>
            </a:r>
          </a:p>
          <a:p>
            <a:pPr marL="0" indent="0">
              <a:buNone/>
            </a:pPr>
            <a:endParaRPr lang="fr-FR" sz="22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2000" dirty="0">
                <a:solidFill>
                  <a:srgbClr val="002060"/>
                </a:solidFill>
              </a:rPr>
              <a:t> Avantages 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2060"/>
                </a:solidFill>
              </a:rPr>
              <a:t>	- Espace de stockage réduit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2060"/>
                </a:solidFill>
              </a:rPr>
              <a:t>	- Sauvegardes rapides après la complète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2060"/>
                </a:solidFill>
              </a:rPr>
              <a:t>	- Flexibilité dans la restauration</a:t>
            </a:r>
          </a:p>
          <a:p>
            <a:pPr marL="0" indent="0">
              <a:buNone/>
            </a:pPr>
            <a:endParaRPr lang="fr-FR" sz="20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2000" dirty="0">
                <a:solidFill>
                  <a:srgbClr val="002060"/>
                </a:solidFill>
              </a:rPr>
              <a:t> Inconvénients 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2060"/>
                </a:solidFill>
              </a:rPr>
              <a:t>	- Dépendance à la sauvegarde précédente, en cas de problème avec la dernière 	sauvegarde la restauration peut être compromise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272C81-D907-CAA6-4139-872E573C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5</a:t>
            </a:fld>
            <a:endParaRPr lang="fr-FR"/>
          </a:p>
        </p:txBody>
      </p:sp>
      <p:pic>
        <p:nvPicPr>
          <p:cNvPr id="5" name="Image 4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F14CED75-7B86-F078-C8F1-CFE093813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2"/>
            <a:ext cx="1508429" cy="462837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A749C523-A33D-B727-50BC-026478457646}"/>
              </a:ext>
            </a:extLst>
          </p:cNvPr>
          <p:cNvSpPr txBox="1">
            <a:spLocks/>
          </p:cNvSpPr>
          <p:nvPr/>
        </p:nvSpPr>
        <p:spPr>
          <a:xfrm>
            <a:off x="801688" y="600636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Stratégie 1 : Sauvegarde Incrémentale </a:t>
            </a:r>
          </a:p>
        </p:txBody>
      </p:sp>
    </p:spTree>
    <p:extLst>
      <p:ext uri="{BB962C8B-B14F-4D97-AF65-F5344CB8AC3E}">
        <p14:creationId xmlns:p14="http://schemas.microsoft.com/office/powerpoint/2010/main" val="3096641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38CE15-877E-824F-9FFC-A81F7C6D5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4DD1F38-321B-6066-ADB6-A30D93870167}"/>
              </a:ext>
            </a:extLst>
          </p:cNvPr>
          <p:cNvSpPr txBox="1">
            <a:spLocks/>
          </p:cNvSpPr>
          <p:nvPr/>
        </p:nvSpPr>
        <p:spPr>
          <a:xfrm>
            <a:off x="879437" y="824632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 Sauvegarde incrémentale sur une semaine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5397D40-CE7C-858E-AB86-E29FBA8FE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48" y="2016762"/>
            <a:ext cx="10165977" cy="43513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age 15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66C41399-1030-A166-60A4-B4B7D486E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2"/>
            <a:ext cx="1475316" cy="452677"/>
          </a:xfrm>
          <a:prstGeom prst="rect">
            <a:avLst/>
          </a:prstGeom>
        </p:spPr>
      </p:pic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789BEC7D-4EEB-DC73-952D-34C25B55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569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D8B09F2C-5798-DBD1-9599-F5BEEF372270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Sauvegarde incrémentale du mardi</a:t>
            </a:r>
          </a:p>
        </p:txBody>
      </p:sp>
      <p:pic>
        <p:nvPicPr>
          <p:cNvPr id="17" name="Image 16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F27C72FE-0BF5-6713-6AB6-D4654DF49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7F45FB49-4150-6C04-8FF3-5C1E7840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7</a:t>
            </a:fld>
            <a:endParaRPr lang="fr-FR"/>
          </a:p>
        </p:txBody>
      </p:sp>
      <p:pic>
        <p:nvPicPr>
          <p:cNvPr id="5" name="Espace réservé du contenu 4" descr="Une image contenant texte, capture d’écran, diagramme, nombre">
            <a:extLst>
              <a:ext uri="{FF2B5EF4-FFF2-40B4-BE49-F238E27FC236}">
                <a16:creationId xmlns:a16="http://schemas.microsoft.com/office/drawing/2014/main" id="{40AA7758-0EAB-440D-3915-67DDA083F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28" y="1825625"/>
            <a:ext cx="10211752" cy="4351338"/>
          </a:xfrm>
        </p:spPr>
      </p:pic>
    </p:spTree>
    <p:extLst>
      <p:ext uri="{BB962C8B-B14F-4D97-AF65-F5344CB8AC3E}">
        <p14:creationId xmlns:p14="http://schemas.microsoft.com/office/powerpoint/2010/main" val="87223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14">
            <a:extLst>
              <a:ext uri="{FF2B5EF4-FFF2-40B4-BE49-F238E27FC236}">
                <a16:creationId xmlns:a16="http://schemas.microsoft.com/office/drawing/2014/main" id="{FD23212B-1568-888D-FC97-5D9E0DE2A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fr-FR" sz="2200" dirty="0">
                <a:solidFill>
                  <a:srgbClr val="002060"/>
                </a:solidFill>
              </a:rPr>
              <a:t>Lancement automatique d’un script de sauvegarde</a:t>
            </a:r>
          </a:p>
          <a:p>
            <a:pPr marL="457200" indent="-457200">
              <a:buFont typeface="+mj-lt"/>
              <a:buAutoNum type="arabicParenR"/>
            </a:pPr>
            <a:endParaRPr lang="fr-FR" sz="2200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fr-FR" sz="2200" dirty="0">
                <a:solidFill>
                  <a:srgbClr val="002060"/>
                </a:solidFill>
              </a:rPr>
              <a:t>Sauvegarde complète</a:t>
            </a:r>
          </a:p>
          <a:p>
            <a:pPr marL="457200" indent="-457200">
              <a:buFont typeface="+mj-lt"/>
              <a:buAutoNum type="arabicParenR"/>
            </a:pPr>
            <a:endParaRPr lang="fr-FR" sz="2200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fr-FR" sz="2200" dirty="0">
                <a:solidFill>
                  <a:srgbClr val="002060"/>
                </a:solidFill>
              </a:rPr>
              <a:t>Sauvegarde incrémentale</a:t>
            </a:r>
          </a:p>
          <a:p>
            <a:pPr marL="457200" indent="-457200">
              <a:buFont typeface="+mj-lt"/>
              <a:buAutoNum type="arabicParenR"/>
            </a:pPr>
            <a:endParaRPr lang="fr-FR" sz="2200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fr-FR" sz="2200" dirty="0">
                <a:solidFill>
                  <a:srgbClr val="002060"/>
                </a:solidFill>
              </a:rPr>
              <a:t>Gestion des sauvegardes</a:t>
            </a:r>
          </a:p>
          <a:p>
            <a:pPr marL="457200" indent="-457200">
              <a:buFont typeface="+mj-lt"/>
              <a:buAutoNum type="arabicParenR"/>
            </a:pPr>
            <a:endParaRPr lang="fr-FR" sz="20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rgbClr val="002060"/>
              </a:solidFill>
            </a:endParaRP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95ED1083-9905-2E33-013F-C761709B58C8}"/>
              </a:ext>
            </a:extLst>
          </p:cNvPr>
          <p:cNvSpPr txBox="1">
            <a:spLocks/>
          </p:cNvSpPr>
          <p:nvPr/>
        </p:nvSpPr>
        <p:spPr>
          <a:xfrm>
            <a:off x="801688" y="600636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Stratégie 1 : Sauvegarde incrémentale  </a:t>
            </a:r>
          </a:p>
        </p:txBody>
      </p:sp>
      <p:pic>
        <p:nvPicPr>
          <p:cNvPr id="23" name="Image 22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FBFFFF9C-93C1-EAE3-7FAA-0ACE4B61C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2"/>
            <a:ext cx="1508429" cy="462837"/>
          </a:xfrm>
          <a:prstGeom prst="rect">
            <a:avLst/>
          </a:prstGeom>
        </p:spPr>
      </p:pic>
      <p:sp>
        <p:nvSpPr>
          <p:cNvPr id="24" name="Espace réservé du numéro de diapositive 23">
            <a:extLst>
              <a:ext uri="{FF2B5EF4-FFF2-40B4-BE49-F238E27FC236}">
                <a16:creationId xmlns:a16="http://schemas.microsoft.com/office/drawing/2014/main" id="{06DD0743-76DE-709E-BA91-8FC3ABCE1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918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Espace réservé du contenu 5">
            <a:extLst>
              <a:ext uri="{FF2B5EF4-FFF2-40B4-BE49-F238E27FC236}">
                <a16:creationId xmlns:a16="http://schemas.microsoft.com/office/drawing/2014/main" id="{ED82DAC1-42CB-72FB-CA57-4F047E27E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8196102"/>
              </p:ext>
            </p:extLst>
          </p:nvPr>
        </p:nvGraphicFramePr>
        <p:xfrm>
          <a:off x="838200" y="140906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re 1">
            <a:extLst>
              <a:ext uri="{FF2B5EF4-FFF2-40B4-BE49-F238E27FC236}">
                <a16:creationId xmlns:a16="http://schemas.microsoft.com/office/drawing/2014/main" id="{50DDA3DD-E53B-8864-C283-B8CDFA0A5897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1) Lancement automatique</a:t>
            </a:r>
          </a:p>
        </p:txBody>
      </p:sp>
      <p:pic>
        <p:nvPicPr>
          <p:cNvPr id="10" name="Image 9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32E5387F-F7DE-5675-577E-ED885B2044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13444A82-702E-5977-6E7F-E6BE0DD3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9315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C3F959-31A9-2ED0-E20A-47EEA4104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Réalisée tous les dimanches ou en absence d’une sauvegarde de la veille, enregistre toutes les données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Commande </a:t>
            </a:r>
            <a:r>
              <a:rPr lang="fr-FR" sz="1800" dirty="0" err="1">
                <a:solidFill>
                  <a:srgbClr val="002060"/>
                </a:solidFill>
              </a:rPr>
              <a:t>rsync</a:t>
            </a:r>
            <a:r>
              <a:rPr lang="fr-FR" sz="1800" dirty="0">
                <a:solidFill>
                  <a:srgbClr val="002060"/>
                </a:solidFill>
              </a:rPr>
              <a:t>  :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</a:rPr>
              <a:t>	</a:t>
            </a:r>
            <a:r>
              <a:rPr lang="en-US" sz="1800" b="1" dirty="0" err="1"/>
              <a:t>rsync</a:t>
            </a:r>
            <a:r>
              <a:rPr lang="en-US" sz="1800" b="1" dirty="0"/>
              <a:t> -</a:t>
            </a:r>
            <a:r>
              <a:rPr lang="en-US" sz="1800" b="1" dirty="0" err="1"/>
              <a:t>avz</a:t>
            </a:r>
            <a:r>
              <a:rPr lang="en-US" sz="1800" b="1" dirty="0"/>
              <a:t> --delete -e "ssh -</a:t>
            </a:r>
            <a:r>
              <a:rPr lang="en-US" sz="1800" b="1" dirty="0" err="1"/>
              <a:t>i</a:t>
            </a:r>
            <a:r>
              <a:rPr lang="en-US" sz="1800" b="1" dirty="0"/>
              <a:t> $KEY_PATH" $REPERTOIRE_SOURCE </a:t>
            </a:r>
            <a:r>
              <a:rPr lang="en-US" sz="1800" b="1" dirty="0" err="1"/>
              <a:t>sauvegarde</a:t>
            </a:r>
            <a:r>
              <a:rPr lang="en-US" sz="1800" b="1" dirty="0"/>
              <a:t>@$SERVEUR_STOCKAGE:$REPERTOIRE_DEST/COMPLETES/$DATE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8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Options </a:t>
            </a:r>
            <a:r>
              <a:rPr lang="fr-FR" sz="1800" dirty="0" err="1">
                <a:solidFill>
                  <a:srgbClr val="002060"/>
                </a:solidFill>
              </a:rPr>
              <a:t>rsync</a:t>
            </a:r>
            <a:r>
              <a:rPr lang="fr-FR" sz="1800" dirty="0">
                <a:solidFill>
                  <a:srgbClr val="002060"/>
                </a:solidFill>
              </a:rPr>
              <a:t> utilisées 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a : Mode archive, conserve les permissions et les liens symboliques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v  : Mode verbeux, affiche les éléments transférés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z  : Compresse les données pendant le transfert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--</a:t>
            </a:r>
            <a:r>
              <a:rPr lang="fr-FR" sz="1800" dirty="0" err="1">
                <a:solidFill>
                  <a:srgbClr val="002060"/>
                </a:solidFill>
              </a:rPr>
              <a:t>delete</a:t>
            </a:r>
            <a:r>
              <a:rPr lang="fr-FR" sz="1800" dirty="0">
                <a:solidFill>
                  <a:srgbClr val="002060"/>
                </a:solidFill>
              </a:rPr>
              <a:t> : Supprime  les fichiers absents dans la source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</p:txBody>
      </p:sp>
      <p:pic>
        <p:nvPicPr>
          <p:cNvPr id="6" name="Image 5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A6F0E5ED-0DC2-AA9F-5822-8D27FAB33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284DDF50-B0C5-CAD6-DB8A-545A20FFA88D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2) Sauvegarde complète</a:t>
            </a:r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BEE258D9-6F5D-24A2-F956-4EF2E368E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351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ED8C34-B659-5B7F-C2CC-502CA2A11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928" y="1646191"/>
            <a:ext cx="10515600" cy="462967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Réalisée quotidiennement, basée sur la sauvegarde de la veille, enregistre les données modifiées ou nouvelles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Commande </a:t>
            </a:r>
            <a:r>
              <a:rPr lang="fr-FR" sz="1800" dirty="0" err="1">
                <a:solidFill>
                  <a:srgbClr val="002060"/>
                </a:solidFill>
              </a:rPr>
              <a:t>rsync</a:t>
            </a:r>
            <a:r>
              <a:rPr lang="fr-FR" sz="1800" dirty="0">
                <a:solidFill>
                  <a:srgbClr val="002060"/>
                </a:solidFill>
              </a:rPr>
              <a:t> 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 	</a:t>
            </a:r>
            <a:r>
              <a:rPr lang="fr-FR" sz="1800" b="1" dirty="0" err="1"/>
              <a:t>rsync</a:t>
            </a:r>
            <a:r>
              <a:rPr lang="fr-FR" sz="1800" b="1" dirty="0"/>
              <a:t> -</a:t>
            </a:r>
            <a:r>
              <a:rPr lang="fr-FR" sz="1800" b="1" dirty="0" err="1"/>
              <a:t>avz</a:t>
            </a:r>
            <a:r>
              <a:rPr lang="fr-FR" sz="1800" b="1" dirty="0"/>
              <a:t> --</a:t>
            </a:r>
            <a:r>
              <a:rPr lang="fr-FR" sz="1800" b="1" dirty="0" err="1"/>
              <a:t>delete</a:t>
            </a:r>
            <a:r>
              <a:rPr lang="fr-FR" sz="1800" b="1" dirty="0"/>
              <a:t> --</a:t>
            </a:r>
            <a:r>
              <a:rPr lang="fr-FR" sz="1800" b="1" dirty="0" err="1"/>
              <a:t>link-dest</a:t>
            </a:r>
            <a:r>
              <a:rPr lang="fr-FR" sz="1800" b="1" dirty="0"/>
              <a:t>=$DERNIERE_SAUVEGARDE -e "</a:t>
            </a:r>
            <a:r>
              <a:rPr lang="fr-FR" sz="1800" b="1" dirty="0" err="1"/>
              <a:t>ssh</a:t>
            </a:r>
            <a:r>
              <a:rPr lang="fr-FR" sz="1800" b="1" dirty="0"/>
              <a:t> -i $KEY_PATH" $REPERTOIRE_SOURCE sauvegarde@$SERVEUR_STOCKAGE:$REPERTOIRE_DEST/INCREMENTALES/$DATE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Options </a:t>
            </a:r>
            <a:r>
              <a:rPr lang="fr-FR" sz="1800" dirty="0" err="1">
                <a:solidFill>
                  <a:srgbClr val="002060"/>
                </a:solidFill>
              </a:rPr>
              <a:t>rsync</a:t>
            </a:r>
            <a:r>
              <a:rPr lang="fr-FR" sz="1800" dirty="0">
                <a:solidFill>
                  <a:srgbClr val="002060"/>
                </a:solidFill>
              </a:rPr>
              <a:t> utilisées 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a : Mode archive, conserve les permissions et les liens symboliques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v  : Mode verbeux, affiche les éléments transférés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z  : Compresse les données pendant le transfert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--</a:t>
            </a:r>
            <a:r>
              <a:rPr lang="fr-FR" sz="1800" dirty="0" err="1">
                <a:solidFill>
                  <a:srgbClr val="002060"/>
                </a:solidFill>
              </a:rPr>
              <a:t>delete</a:t>
            </a:r>
            <a:r>
              <a:rPr lang="fr-FR" sz="1800" dirty="0">
                <a:solidFill>
                  <a:srgbClr val="002060"/>
                </a:solidFill>
              </a:rPr>
              <a:t> : Supprime  les fichiers absents dans la source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 --</a:t>
            </a:r>
            <a:r>
              <a:rPr lang="fr-FR" sz="1800" dirty="0" err="1">
                <a:solidFill>
                  <a:srgbClr val="002060"/>
                </a:solidFill>
              </a:rPr>
              <a:t>link-dest</a:t>
            </a:r>
            <a:r>
              <a:rPr lang="fr-FR" sz="1800" dirty="0">
                <a:solidFill>
                  <a:srgbClr val="002060"/>
                </a:solidFill>
              </a:rPr>
              <a:t> : Réalise une sauvegarde  en liant les fichiers identiques à une 		 	sauvegarde existante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C849758-B2BB-8E85-9C4B-30727854C02D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3) Sauvegarde incrémentale</a:t>
            </a:r>
          </a:p>
        </p:txBody>
      </p:sp>
      <p:pic>
        <p:nvPicPr>
          <p:cNvPr id="7" name="Image 6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B51E52C1-1580-008F-F291-D75B39C35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0E01068-E4C9-A9ED-1981-D146E993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395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Espace réservé du contenu 2">
            <a:extLst>
              <a:ext uri="{FF2B5EF4-FFF2-40B4-BE49-F238E27FC236}">
                <a16:creationId xmlns:a16="http://schemas.microsoft.com/office/drawing/2014/main" id="{BD9B1F33-102B-BE2B-C0D2-4D3BA87A83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1832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re 1">
            <a:extLst>
              <a:ext uri="{FF2B5EF4-FFF2-40B4-BE49-F238E27FC236}">
                <a16:creationId xmlns:a16="http://schemas.microsoft.com/office/drawing/2014/main" id="{A8B84EF2-9EBB-B741-1BA0-1297CB158E37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>
                <a:solidFill>
                  <a:srgbClr val="002060"/>
                </a:solidFill>
              </a:rPr>
              <a:t>4) Gestion des sauvegardes</a:t>
            </a:r>
            <a:endParaRPr lang="fr-FR" sz="2900" b="1" i="1" u="sng" dirty="0">
              <a:solidFill>
                <a:srgbClr val="002060"/>
              </a:solidFill>
            </a:endParaRPr>
          </a:p>
        </p:txBody>
      </p:sp>
      <p:pic>
        <p:nvPicPr>
          <p:cNvPr id="7" name="Image 6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7DDE9D8C-6ABF-6F72-0633-DD030D5E17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B474182-65B5-4586-1ABB-F46498D9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589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B82AAB-AA86-E489-D2D0-CE7628CED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000" dirty="0">
                <a:solidFill>
                  <a:srgbClr val="002060"/>
                </a:solidFill>
              </a:rPr>
              <a:t>Cette stratégie consiste à réaliser des sauvegardes différentielles, seules les données modifiées ou ajoutées depuis la dernière sauvegarde complète sont enregistrées</a:t>
            </a:r>
          </a:p>
          <a:p>
            <a:pPr marL="0" indent="0">
              <a:buNone/>
            </a:pPr>
            <a:endParaRPr lang="fr-FR" sz="20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2000" dirty="0">
                <a:solidFill>
                  <a:srgbClr val="002060"/>
                </a:solidFill>
              </a:rPr>
              <a:t> Avantages 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2060"/>
                </a:solidFill>
              </a:rPr>
              <a:t>	- Economie de la bande passante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2060"/>
                </a:solidFill>
              </a:rPr>
              <a:t>	- Temps de sauvegarde réduit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2060"/>
                </a:solidFill>
              </a:rPr>
              <a:t>	- Economie de l’espace de stockage</a:t>
            </a:r>
          </a:p>
          <a:p>
            <a:pPr marL="0" indent="0">
              <a:buNone/>
            </a:pPr>
            <a:endParaRPr lang="fr-FR" sz="20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2000" dirty="0">
                <a:solidFill>
                  <a:srgbClr val="002060"/>
                </a:solidFill>
              </a:rPr>
              <a:t> Inconvénients 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2060"/>
                </a:solidFill>
              </a:rPr>
              <a:t>	- Augmentation des volumes ( les sauvegardes différentielles s’alourdissent depuis la 	dernière sauvegarde complète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2060"/>
                </a:solidFill>
              </a:rPr>
              <a:t>	- Durée de restauration : La restauration nécessite la sauvegarde complète initiale et la 	dernière sauvegarde différentielle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37EBA4-9ED3-7973-6EDE-5EED0C74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13</a:t>
            </a:fld>
            <a:endParaRPr lang="fr-FR"/>
          </a:p>
        </p:txBody>
      </p:sp>
      <p:pic>
        <p:nvPicPr>
          <p:cNvPr id="5" name="Image 4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67E51909-8C1C-3325-38BB-6BFF9EA09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2"/>
            <a:ext cx="1508429" cy="462837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11EF2FD1-14C6-051C-CA50-1225DF02D15E}"/>
              </a:ext>
            </a:extLst>
          </p:cNvPr>
          <p:cNvSpPr txBox="1">
            <a:spLocks/>
          </p:cNvSpPr>
          <p:nvPr/>
        </p:nvSpPr>
        <p:spPr>
          <a:xfrm>
            <a:off x="801688" y="600636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Stratégie 2 : Sauvegarde Différentielle </a:t>
            </a:r>
          </a:p>
        </p:txBody>
      </p:sp>
    </p:spTree>
    <p:extLst>
      <p:ext uri="{BB962C8B-B14F-4D97-AF65-F5344CB8AC3E}">
        <p14:creationId xmlns:p14="http://schemas.microsoft.com/office/powerpoint/2010/main" val="2429686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du contenu 8" descr="Une image contenant texte, capture d’écran, diagramme, ligne&#10;&#10;Description générée automatiquement">
            <a:extLst>
              <a:ext uri="{FF2B5EF4-FFF2-40B4-BE49-F238E27FC236}">
                <a16:creationId xmlns:a16="http://schemas.microsoft.com/office/drawing/2014/main" id="{F90451E3-954B-FDC4-5DF7-6C5E7B067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264" y="1740769"/>
            <a:ext cx="10228300" cy="4568591"/>
          </a:xfrm>
          <a:ln>
            <a:solidFill>
              <a:schemeClr val="tx1"/>
            </a:solidFill>
          </a:ln>
        </p:spPr>
      </p:pic>
      <p:pic>
        <p:nvPicPr>
          <p:cNvPr id="10" name="Image 9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B65498F4-7210-9AA2-CCF8-F274C083B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2"/>
            <a:ext cx="1508429" cy="462837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C37FC52B-02AC-85AC-4FEF-B6C7A851CBAA}"/>
              </a:ext>
            </a:extLst>
          </p:cNvPr>
          <p:cNvSpPr txBox="1">
            <a:spLocks/>
          </p:cNvSpPr>
          <p:nvPr/>
        </p:nvSpPr>
        <p:spPr>
          <a:xfrm>
            <a:off x="879437" y="824632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 Sauvegarde différentielle sur une semaine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E1148F14-F592-39F2-4FAE-3ECB9127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9708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648F1202-B765-D55A-279E-550A925EF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3837EE99-2402-2F61-ADE7-3FFA28FE9809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Sauvegarde différentielle du mardi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0FF1C0A-174B-3456-9072-1164341F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15</a:t>
            </a:fld>
            <a:endParaRPr lang="fr-FR"/>
          </a:p>
        </p:txBody>
      </p:sp>
      <p:pic>
        <p:nvPicPr>
          <p:cNvPr id="13" name="Espace réservé du contenu 12" descr="Une image contenant texte, capture d’écran, diagramme, ligne">
            <a:extLst>
              <a:ext uri="{FF2B5EF4-FFF2-40B4-BE49-F238E27FC236}">
                <a16:creationId xmlns:a16="http://schemas.microsoft.com/office/drawing/2014/main" id="{6A5B6C5F-B407-1150-AC6D-AAC483533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80" y="1825625"/>
            <a:ext cx="10078720" cy="4351338"/>
          </a:xfrm>
        </p:spPr>
      </p:pic>
    </p:spTree>
    <p:extLst>
      <p:ext uri="{BB962C8B-B14F-4D97-AF65-F5344CB8AC3E}">
        <p14:creationId xmlns:p14="http://schemas.microsoft.com/office/powerpoint/2010/main" val="1326828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3E770E-E42E-6854-03A4-0E112E69A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fr-FR" sz="2200" dirty="0">
                <a:solidFill>
                  <a:srgbClr val="002060"/>
                </a:solidFill>
              </a:rPr>
              <a:t>Lancement automatique d’un script de sauvegarde</a:t>
            </a:r>
          </a:p>
          <a:p>
            <a:pPr marL="457200" indent="-457200">
              <a:buFont typeface="+mj-lt"/>
              <a:buAutoNum type="arabicParenR"/>
            </a:pPr>
            <a:endParaRPr lang="fr-FR" sz="2200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fr-FR" sz="2200" dirty="0">
                <a:solidFill>
                  <a:srgbClr val="002060"/>
                </a:solidFill>
              </a:rPr>
              <a:t>Sauvegarde complète</a:t>
            </a:r>
          </a:p>
          <a:p>
            <a:pPr marL="457200" indent="-457200">
              <a:buFont typeface="+mj-lt"/>
              <a:buAutoNum type="arabicParenR"/>
            </a:pPr>
            <a:endParaRPr lang="fr-FR" sz="2200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fr-FR" sz="2200" dirty="0">
                <a:solidFill>
                  <a:srgbClr val="002060"/>
                </a:solidFill>
              </a:rPr>
              <a:t>Sauvegarde différentielle</a:t>
            </a:r>
          </a:p>
          <a:p>
            <a:pPr marL="457200" indent="-457200">
              <a:buFont typeface="+mj-lt"/>
              <a:buAutoNum type="arabicParenR"/>
            </a:pPr>
            <a:endParaRPr lang="fr-FR" sz="2200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fr-FR" sz="2200" dirty="0">
                <a:solidFill>
                  <a:srgbClr val="002060"/>
                </a:solidFill>
              </a:rPr>
              <a:t>Gestion des sauvegardes</a:t>
            </a:r>
          </a:p>
          <a:p>
            <a:pPr marL="457200" indent="-457200">
              <a:buFont typeface="+mj-lt"/>
              <a:buAutoNum type="arabicParenR"/>
            </a:pPr>
            <a:endParaRPr lang="fr-FR" sz="28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fr-FR" sz="28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06D7D67D-B8AE-E1D9-A652-84247EEFB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2"/>
            <a:ext cx="1508429" cy="462837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0BEEA6D4-429D-2775-A048-49A909583681}"/>
              </a:ext>
            </a:extLst>
          </p:cNvPr>
          <p:cNvSpPr txBox="1">
            <a:spLocks/>
          </p:cNvSpPr>
          <p:nvPr/>
        </p:nvSpPr>
        <p:spPr>
          <a:xfrm>
            <a:off x="801688" y="600636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Stratégie 2 : Sauvegarde Différentielle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89EF152-3808-FF4C-27B2-415A69876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455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440D1-83C0-2996-2DF9-298AB61A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Espace réservé du contenu 5">
            <a:extLst>
              <a:ext uri="{FF2B5EF4-FFF2-40B4-BE49-F238E27FC236}">
                <a16:creationId xmlns:a16="http://schemas.microsoft.com/office/drawing/2014/main" id="{1E1AD028-BFAA-BDCF-5BC5-A032F5B788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0906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re 1">
            <a:extLst>
              <a:ext uri="{FF2B5EF4-FFF2-40B4-BE49-F238E27FC236}">
                <a16:creationId xmlns:a16="http://schemas.microsoft.com/office/drawing/2014/main" id="{726A6A84-46A3-9ECF-C5CE-88CB08514866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1) Lancement automatique</a:t>
            </a:r>
          </a:p>
        </p:txBody>
      </p:sp>
      <p:pic>
        <p:nvPicPr>
          <p:cNvPr id="10" name="Image 9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E6C9FAB9-E37E-1C4D-BC3D-BDD60BB0C0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4F26BEE-81E8-9DF2-0803-2F7403E0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8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2621C-F70A-782C-4E18-38A3FA2F6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DD0D18-F1CE-C424-BE49-7E129269E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Exécutée chaque dimanche ou lorsqu’aucune sauvegarde complète précédente n’existe, copie tous les fichiers</a:t>
            </a:r>
          </a:p>
          <a:p>
            <a:pPr marL="0" indent="0">
              <a:buNone/>
            </a:pPr>
            <a:endParaRPr lang="fr-FR" sz="18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Commande </a:t>
            </a:r>
            <a:r>
              <a:rPr lang="fr-FR" sz="1800" dirty="0" err="1">
                <a:solidFill>
                  <a:srgbClr val="002060"/>
                </a:solidFill>
              </a:rPr>
              <a:t>rsync</a:t>
            </a:r>
            <a:r>
              <a:rPr lang="fr-FR" sz="1800" dirty="0">
                <a:solidFill>
                  <a:srgbClr val="002060"/>
                </a:solidFill>
              </a:rPr>
              <a:t>  :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</a:rPr>
              <a:t>	</a:t>
            </a:r>
            <a:r>
              <a:rPr lang="fr-FR" sz="1800" b="1" dirty="0" err="1"/>
              <a:t>rsync</a:t>
            </a:r>
            <a:r>
              <a:rPr lang="fr-FR" sz="1800" b="1" dirty="0"/>
              <a:t> -</a:t>
            </a:r>
            <a:r>
              <a:rPr lang="fr-FR" sz="1800" b="1" dirty="0" err="1"/>
              <a:t>avz</a:t>
            </a:r>
            <a:r>
              <a:rPr lang="fr-FR" sz="1800" b="1" dirty="0"/>
              <a:t> --</a:t>
            </a:r>
            <a:r>
              <a:rPr lang="fr-FR" sz="1800" b="1" dirty="0" err="1"/>
              <a:t>delete</a:t>
            </a:r>
            <a:r>
              <a:rPr lang="fr-FR" sz="1800" b="1" dirty="0"/>
              <a:t> --partial --</a:t>
            </a:r>
            <a:r>
              <a:rPr lang="fr-FR" sz="1800" b="1" dirty="0" err="1"/>
              <a:t>progress</a:t>
            </a:r>
            <a:r>
              <a:rPr lang="fr-FR" sz="1800" b="1" dirty="0"/>
              <a:t> \-e "</a:t>
            </a:r>
            <a:r>
              <a:rPr lang="fr-FR" sz="1800" b="1" dirty="0" err="1"/>
              <a:t>ssh</a:t>
            </a:r>
            <a:r>
              <a:rPr lang="fr-FR" sz="1800" b="1" dirty="0"/>
              <a:t> -i $CHEMIN_CLE" \$REPERTOIRE_SOURCE/ sauvegarde@$SERVEUR_STOCKAGE:$NOM_SAUVEGARDE_COMPL</a:t>
            </a:r>
          </a:p>
          <a:p>
            <a:pPr marL="0" indent="0">
              <a:buNone/>
            </a:pPr>
            <a:endParaRPr lang="en-US" sz="1800" b="1" dirty="0"/>
          </a:p>
          <a:p>
            <a:pPr>
              <a:buFont typeface="Wingdings" panose="05000000000000000000" pitchFamily="2" charset="2"/>
              <a:buChar char="v"/>
            </a:pPr>
            <a:endParaRPr lang="en-US" sz="1800" b="1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Options </a:t>
            </a:r>
            <a:r>
              <a:rPr lang="fr-FR" sz="1800" dirty="0" err="1">
                <a:solidFill>
                  <a:srgbClr val="002060"/>
                </a:solidFill>
              </a:rPr>
              <a:t>rsync</a:t>
            </a:r>
            <a:r>
              <a:rPr lang="fr-FR" sz="1800" dirty="0">
                <a:solidFill>
                  <a:srgbClr val="002060"/>
                </a:solidFill>
              </a:rPr>
              <a:t> utilisées 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a : Mode archive, conserve les permissions et les liens symboliques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v  : Mode verbeux, affiche les éléments transférés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z  : Compresse les données pendant le transfert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--</a:t>
            </a:r>
            <a:r>
              <a:rPr lang="fr-FR" sz="1800" dirty="0" err="1">
                <a:solidFill>
                  <a:srgbClr val="002060"/>
                </a:solidFill>
              </a:rPr>
              <a:t>delete</a:t>
            </a:r>
            <a:r>
              <a:rPr lang="fr-FR" sz="1800" dirty="0">
                <a:solidFill>
                  <a:srgbClr val="002060"/>
                </a:solidFill>
              </a:rPr>
              <a:t> : Supprime  les fichiers absents dans la source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--partial : Permet de reprendre les transferts interrompus</a:t>
            </a:r>
          </a:p>
          <a:p>
            <a:pPr marL="0" indent="0">
              <a:buNone/>
            </a:pPr>
            <a:endParaRPr lang="fr-FR" sz="18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</p:txBody>
      </p:sp>
      <p:pic>
        <p:nvPicPr>
          <p:cNvPr id="6" name="Image 5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F53140D8-8F4C-9218-DC71-140384A03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247583DB-BCDA-7791-5EA0-5BDD31A9CC1F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2) Sauvegarde complète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9632D01-A3B6-E026-CDD5-4CE98C7D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730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094328-D00E-32B8-430E-7D97BA2C4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928" y="1646191"/>
            <a:ext cx="10304144" cy="492759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Exécutée tous les jours de la semaine sauf le dimanche, copie uniquement les fichiers modifiés ou nouveau par rapport à la dernière sauvegarde complète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Commande </a:t>
            </a:r>
            <a:r>
              <a:rPr lang="fr-FR" sz="1800" dirty="0" err="1">
                <a:solidFill>
                  <a:srgbClr val="002060"/>
                </a:solidFill>
              </a:rPr>
              <a:t>rsync</a:t>
            </a:r>
            <a:r>
              <a:rPr lang="fr-FR" sz="1800" dirty="0">
                <a:solidFill>
                  <a:srgbClr val="002060"/>
                </a:solidFill>
              </a:rPr>
              <a:t> 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</a:t>
            </a:r>
            <a:r>
              <a:rPr lang="fr-FR" sz="1800" b="1" dirty="0"/>
              <a:t> </a:t>
            </a:r>
            <a:r>
              <a:rPr lang="fr-FR" sz="1800" b="1" dirty="0" err="1"/>
              <a:t>rsync</a:t>
            </a:r>
            <a:r>
              <a:rPr lang="fr-FR" sz="1800" b="1" dirty="0"/>
              <a:t> -</a:t>
            </a:r>
            <a:r>
              <a:rPr lang="fr-FR" sz="1800" b="1" dirty="0" err="1"/>
              <a:t>avz</a:t>
            </a:r>
            <a:r>
              <a:rPr lang="fr-FR" sz="1800" b="1" dirty="0"/>
              <a:t> --partial --</a:t>
            </a:r>
            <a:r>
              <a:rPr lang="fr-FR" sz="1800" b="1" dirty="0" err="1"/>
              <a:t>progress</a:t>
            </a:r>
            <a:r>
              <a:rPr lang="fr-FR" sz="1800" b="1" dirty="0"/>
              <a:t> \--</a:t>
            </a:r>
            <a:r>
              <a:rPr lang="fr-FR" sz="1800" b="1" dirty="0" err="1"/>
              <a:t>link-dest</a:t>
            </a:r>
            <a:r>
              <a:rPr lang="fr-FR" sz="1800" b="1" dirty="0"/>
              <a:t>=$DERNIERE_SAUVEGARDE_COMPL \-e "</a:t>
            </a:r>
            <a:r>
              <a:rPr lang="fr-FR" sz="1800" b="1" dirty="0" err="1"/>
              <a:t>ssh</a:t>
            </a:r>
            <a:r>
              <a:rPr lang="fr-FR" sz="1800" b="1" dirty="0"/>
              <a:t> -i $CHEMIN_CLE" \$REPERTOIRE_SOURCE/ sauvegarde@$SERVEUR_STOCKAGE:$NOM_SAUVEGARDE_DIFF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Options </a:t>
            </a:r>
            <a:r>
              <a:rPr lang="fr-FR" sz="1800" dirty="0" err="1">
                <a:solidFill>
                  <a:srgbClr val="002060"/>
                </a:solidFill>
              </a:rPr>
              <a:t>rsync</a:t>
            </a:r>
            <a:r>
              <a:rPr lang="fr-FR" sz="1800" dirty="0">
                <a:solidFill>
                  <a:srgbClr val="002060"/>
                </a:solidFill>
              </a:rPr>
              <a:t> utilisées 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a : Mode archive, conserve les permissions et les liens symboliques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v  : Mode verbeux, affiche les éléments transférés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z  : Compresse les données pendant le transfert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--</a:t>
            </a:r>
            <a:r>
              <a:rPr lang="fr-FR" sz="1800" dirty="0" err="1">
                <a:solidFill>
                  <a:srgbClr val="002060"/>
                </a:solidFill>
              </a:rPr>
              <a:t>delete</a:t>
            </a:r>
            <a:r>
              <a:rPr lang="fr-FR" sz="1800" dirty="0">
                <a:solidFill>
                  <a:srgbClr val="002060"/>
                </a:solidFill>
              </a:rPr>
              <a:t> : Supprime  les fichiers absents dans la source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--partial : Permet de reprendre les transferts interrompus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 --</a:t>
            </a:r>
            <a:r>
              <a:rPr lang="fr-FR" sz="1800" dirty="0" err="1">
                <a:solidFill>
                  <a:srgbClr val="002060"/>
                </a:solidFill>
              </a:rPr>
              <a:t>link-dest</a:t>
            </a:r>
            <a:r>
              <a:rPr lang="fr-FR" sz="1800" dirty="0">
                <a:solidFill>
                  <a:srgbClr val="002060"/>
                </a:solidFill>
              </a:rPr>
              <a:t> : Réalise une sauvegarde  en liant les fichiers identiques à une     	sauvegarde existante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</p:txBody>
      </p:sp>
      <p:pic>
        <p:nvPicPr>
          <p:cNvPr id="4" name="Image 3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022C793F-B1A0-B540-034D-218BB107E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66731927-A3E7-B9E8-AE87-0BD3E16E9744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3) Sauvegarde différentielle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78CF22B-2B4C-1335-65CF-D6354151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9923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D802FB-0C89-52DE-AC3B-08CB28868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Lorsque une sauvegarde complète est réalisée, les anciennes sauvegardes  (complètes et différentielles) sont supprimées pour libérer de l’espace disque sur le serveur de stockage.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18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 Avantages 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Réduction des coûts liés au stockage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Simplification de la gestion des sauvegardes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Garantie d’une sauvegarde à jour et fiable</a:t>
            </a:r>
          </a:p>
          <a:p>
            <a:pPr marL="0" indent="0">
              <a:buNone/>
            </a:pPr>
            <a:endParaRPr lang="fr-FR" sz="18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solidFill>
                  <a:srgbClr val="002060"/>
                </a:solidFill>
              </a:rPr>
              <a:t> Approche automatisée 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2060"/>
                </a:solidFill>
              </a:rPr>
              <a:t>	- L’opération est gérée automatiquement par le script ce qui évite toute intervention manuelle</a:t>
            </a:r>
          </a:p>
          <a:p>
            <a:pPr marL="0" indent="0">
              <a:buNone/>
            </a:pPr>
            <a:endParaRPr lang="fr-FR" dirty="0">
              <a:solidFill>
                <a:srgbClr val="002060"/>
              </a:solidFill>
            </a:endParaRPr>
          </a:p>
        </p:txBody>
      </p:sp>
      <p:pic>
        <p:nvPicPr>
          <p:cNvPr id="4" name="Image 3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34D8F1CB-868B-669D-243F-3B3B9F2FC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54BC5B5-AA88-D540-C455-997858E988F2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4) Gestion des sauvegardes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E6C632BF-60DF-5D89-7E76-CAE58986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653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F6E624-4BF2-633F-6B03-3C1C7BE2D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fr-FR" sz="1400" u="sng" dirty="0">
                <a:solidFill>
                  <a:srgbClr val="002060"/>
                </a:solidFill>
              </a:rPr>
              <a:t>Depuis la VM Simulation lancer le script de restauration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Commande : </a:t>
            </a:r>
            <a:r>
              <a:rPr lang="fr-FR" sz="1400" dirty="0" err="1">
                <a:solidFill>
                  <a:srgbClr val="002060"/>
                </a:solidFill>
              </a:rPr>
              <a:t>bash</a:t>
            </a:r>
            <a:r>
              <a:rPr lang="fr-FR" sz="1400" dirty="0">
                <a:solidFill>
                  <a:srgbClr val="002060"/>
                </a:solidFill>
              </a:rPr>
              <a:t> ~/SCRIPTS/script_restauration_incrementale.sh</a:t>
            </a:r>
          </a:p>
          <a:p>
            <a:pPr marL="342900" indent="-342900">
              <a:buFont typeface="+mj-lt"/>
              <a:buAutoNum type="arabicParenR"/>
            </a:pPr>
            <a:endParaRPr lang="fr-FR" sz="1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2)      </a:t>
            </a:r>
            <a:r>
              <a:rPr lang="fr-FR" sz="1400" u="sng" dirty="0">
                <a:solidFill>
                  <a:srgbClr val="002060"/>
                </a:solidFill>
              </a:rPr>
              <a:t>Choisir le répertoire à restaurer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FICHIERS / MAILS / RH / SITE / TICKETS</a:t>
            </a:r>
          </a:p>
          <a:p>
            <a:pPr marL="342900" indent="-342900">
              <a:buFont typeface="+mj-lt"/>
              <a:buAutoNum type="arabicParenR"/>
            </a:pPr>
            <a:endParaRPr lang="fr-FR" sz="1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3)      </a:t>
            </a:r>
            <a:r>
              <a:rPr lang="fr-FR" sz="1400" u="sng" dirty="0">
                <a:solidFill>
                  <a:srgbClr val="002060"/>
                </a:solidFill>
              </a:rPr>
              <a:t>Sélectionner le type de sauvegarde</a:t>
            </a:r>
          </a:p>
          <a:p>
            <a:pPr marL="457200" lvl="1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COMPLETES ou INCREMENTALES</a:t>
            </a:r>
          </a:p>
          <a:p>
            <a:pPr marL="800100" lvl="1" indent="-342900">
              <a:buFont typeface="+mj-lt"/>
              <a:buAutoNum type="arabicParenR"/>
            </a:pPr>
            <a:endParaRPr lang="fr-FR" sz="1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4)      </a:t>
            </a:r>
            <a:r>
              <a:rPr lang="fr-FR" sz="1400" u="sng" dirty="0">
                <a:solidFill>
                  <a:srgbClr val="002060"/>
                </a:solidFill>
              </a:rPr>
              <a:t>Options de restauration</a:t>
            </a:r>
          </a:p>
          <a:p>
            <a:pPr marL="457200" lvl="1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Restaurer un fichier spécifique =&gt; Saisir le chemin du fichier souhaité</a:t>
            </a:r>
          </a:p>
          <a:p>
            <a:pPr marL="457200" lvl="1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Restaurer tous les fichiers =&gt; Confirmer l’opération</a:t>
            </a:r>
          </a:p>
          <a:p>
            <a:pPr marL="800100" lvl="1" indent="-342900">
              <a:buFont typeface="+mj-lt"/>
              <a:buAutoNum type="arabicParenR"/>
            </a:pPr>
            <a:endParaRPr lang="fr-FR" sz="1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5)     </a:t>
            </a:r>
            <a:r>
              <a:rPr lang="fr-FR" sz="1400" u="sng" dirty="0">
                <a:solidFill>
                  <a:srgbClr val="002060"/>
                </a:solidFill>
              </a:rPr>
              <a:t>Vérifier la restauration</a:t>
            </a:r>
          </a:p>
          <a:p>
            <a:pPr marL="457200" lvl="1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Les fichiers restaurés sont disponibles dans /home/walid/RESTAU_INCREMENTALES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fr-FR" sz="1400" dirty="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fr-FR" sz="1400" dirty="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fr-FR" sz="1400" dirty="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fr-FR" sz="14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fr-FR" sz="14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fr-FR" sz="1400" dirty="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400" dirty="0">
                <a:solidFill>
                  <a:srgbClr val="002060"/>
                </a:solidFill>
              </a:rPr>
              <a:t>	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fr-FR" sz="1400" dirty="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fr-FR" sz="14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fr-FR" sz="1400" dirty="0">
              <a:solidFill>
                <a:srgbClr val="002060"/>
              </a:solidFill>
            </a:endParaRPr>
          </a:p>
        </p:txBody>
      </p:sp>
      <p:pic>
        <p:nvPicPr>
          <p:cNvPr id="4" name="Image 3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6259E4AA-2435-4632-95C9-7F046E025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ECDC9560-1BDC-265A-E648-236A5522F482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Procédure restauration stratégie 1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6AAC05D-4330-F5AB-FF3B-ED063C6B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134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3E0689-2CED-C820-4C10-296D27301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fr-FR" sz="1400" u="sng" dirty="0">
                <a:solidFill>
                  <a:srgbClr val="002060"/>
                </a:solidFill>
              </a:rPr>
              <a:t>Depuis la VM Simulation lancer le script de restauration</a:t>
            </a:r>
          </a:p>
          <a:p>
            <a:pPr marL="457200" lvl="1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Commande : </a:t>
            </a:r>
            <a:r>
              <a:rPr lang="fr-FR" sz="1400" dirty="0" err="1">
                <a:solidFill>
                  <a:srgbClr val="002060"/>
                </a:solidFill>
              </a:rPr>
              <a:t>bash</a:t>
            </a:r>
            <a:r>
              <a:rPr lang="fr-FR" sz="1400" dirty="0">
                <a:solidFill>
                  <a:srgbClr val="002060"/>
                </a:solidFill>
              </a:rPr>
              <a:t> ~/SCRIPTS/script_restauration_differentielle.sh</a:t>
            </a:r>
          </a:p>
          <a:p>
            <a:pPr marL="457200" lvl="1" indent="0">
              <a:buNone/>
            </a:pPr>
            <a:endParaRPr lang="fr-FR" sz="1400" dirty="0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arenR"/>
            </a:pPr>
            <a:r>
              <a:rPr lang="fr-FR" sz="1400" u="sng" dirty="0">
                <a:solidFill>
                  <a:srgbClr val="002060"/>
                </a:solidFill>
              </a:rPr>
              <a:t>Lister les sauvegardes disponibles</a:t>
            </a:r>
          </a:p>
          <a:p>
            <a:pPr marL="457200" lvl="1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Les sauvegardes s’affichent sous forme d’arborescence</a:t>
            </a:r>
          </a:p>
          <a:p>
            <a:pPr marL="457200" lvl="1" indent="0">
              <a:buNone/>
            </a:pPr>
            <a:endParaRPr lang="fr-FR" sz="1400" dirty="0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arenR"/>
            </a:pPr>
            <a:r>
              <a:rPr lang="fr-FR" sz="1400" u="sng" dirty="0">
                <a:solidFill>
                  <a:srgbClr val="002060"/>
                </a:solidFill>
              </a:rPr>
              <a:t>Choisir un fichier ou un répertoire à restaurer</a:t>
            </a:r>
          </a:p>
          <a:p>
            <a:pPr marL="457200" lvl="1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Entrer le chemin complet du fichier ou dossier souhaité</a:t>
            </a:r>
          </a:p>
          <a:p>
            <a:pPr marL="457200" lvl="1" indent="0">
              <a:buNone/>
            </a:pPr>
            <a:endParaRPr lang="fr-FR" sz="1400" dirty="0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arenR"/>
            </a:pPr>
            <a:r>
              <a:rPr lang="fr-FR" sz="1400" u="sng" dirty="0">
                <a:solidFill>
                  <a:srgbClr val="002060"/>
                </a:solidFill>
              </a:rPr>
              <a:t>Démarrer la restauration</a:t>
            </a:r>
          </a:p>
          <a:p>
            <a:pPr marL="457200" lvl="1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Les fichiers sélectionnés sont restaurés dans /home/walid/RESTAU_DIFF</a:t>
            </a:r>
          </a:p>
          <a:p>
            <a:pPr marL="457200" lvl="1" indent="0">
              <a:buNone/>
            </a:pPr>
            <a:endParaRPr lang="fr-FR" sz="1400" dirty="0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arenR"/>
            </a:pPr>
            <a:r>
              <a:rPr lang="fr-FR" sz="1400" u="sng" dirty="0">
                <a:solidFill>
                  <a:srgbClr val="002060"/>
                </a:solidFill>
              </a:rPr>
              <a:t>Vérification de l’état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- Succès : Confirmation de la restauration dans le fichier de log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2060"/>
                </a:solidFill>
              </a:rPr>
              <a:t>	- Echec : Message d’erreur enregistré dans le fichier de log</a:t>
            </a:r>
          </a:p>
        </p:txBody>
      </p:sp>
      <p:pic>
        <p:nvPicPr>
          <p:cNvPr id="4" name="Image 3" descr="Une image contenant Police, blanc, texte, conception&#10;&#10;Description générée automatiquement">
            <a:extLst>
              <a:ext uri="{FF2B5EF4-FFF2-40B4-BE49-F238E27FC236}">
                <a16:creationId xmlns:a16="http://schemas.microsoft.com/office/drawing/2014/main" id="{1F856C95-72B0-4D7D-19AF-36B7A3D94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" y="95963"/>
            <a:ext cx="1405197" cy="43116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3DE3ABB4-3306-DFB0-B350-B2291BE434BB}"/>
              </a:ext>
            </a:extLst>
          </p:cNvPr>
          <p:cNvSpPr txBox="1">
            <a:spLocks/>
          </p:cNvSpPr>
          <p:nvPr/>
        </p:nvSpPr>
        <p:spPr>
          <a:xfrm>
            <a:off x="943928" y="730054"/>
            <a:ext cx="10515600" cy="916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900" b="1" i="1" u="sng" dirty="0">
                <a:solidFill>
                  <a:srgbClr val="002060"/>
                </a:solidFill>
              </a:rPr>
              <a:t>Procédure restauration stratégie 2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A213A38-284C-EA84-94A5-DF0510CE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1CC2-217B-41FE-9C7F-1356E133BA5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742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5489AEA-E184-BCD9-513C-2C2AFE348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33" name="Graphic 32" descr="Ampoule">
            <a:extLst>
              <a:ext uri="{FF2B5EF4-FFF2-40B4-BE49-F238E27FC236}">
                <a16:creationId xmlns:a16="http://schemas.microsoft.com/office/drawing/2014/main" id="{9E477167-F3C4-77D4-DD5F-77DEA1729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87F2E2-A6F3-54AE-8C59-D7A83D1B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0A1CC2-217B-41FE-9C7F-1356E133BA5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7541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1311</Words>
  <Application>Microsoft Office PowerPoint</Application>
  <PresentationFormat>Grand écran</PresentationFormat>
  <Paragraphs>204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Wingdings</vt:lpstr>
      <vt:lpstr>Thème Office</vt:lpstr>
      <vt:lpstr>Projet n°10 :  Mettez en place une nouvelle solution de sauvegarde</vt:lpstr>
      <vt:lpstr>PLAN DE PRESENTATION</vt:lpstr>
      <vt:lpstr>Problématique : Mise en place de stratégies de sauvegardes adaptées aux technologies de virtualisation</vt:lpstr>
      <vt:lpstr>Schéma des flux Rsync / SH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Walid RHOUMA</dc:creator>
  <cp:lastModifiedBy>Walid RHOUMA</cp:lastModifiedBy>
  <cp:revision>18</cp:revision>
  <dcterms:created xsi:type="dcterms:W3CDTF">2025-01-04T14:58:18Z</dcterms:created>
  <dcterms:modified xsi:type="dcterms:W3CDTF">2025-01-13T17:57:56Z</dcterms:modified>
</cp:coreProperties>
</file>