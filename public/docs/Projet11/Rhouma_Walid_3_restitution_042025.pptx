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66" d="100"/>
          <a:sy n="66" d="100"/>
        </p:scale>
        <p:origin x="1253" y="2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63778C-6872-46EC-9474-559C9CA01905}" type="datetimeFigureOut">
              <a:rPr lang="fr-FR" smtClean="0"/>
              <a:t>11/04/2025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DAC90B-EBB0-42BA-97EE-277CA9FCE455}" type="slidenum">
              <a:rPr lang="fr-FR" smtClean="0"/>
              <a:t>‹N°›</a:t>
            </a:fld>
            <a:endParaRPr lang="fr-FR"/>
          </a:p>
        </p:txBody>
      </p:sp>
    </p:spTree>
    <p:extLst>
      <p:ext uri="{BB962C8B-B14F-4D97-AF65-F5344CB8AC3E}">
        <p14:creationId xmlns:p14="http://schemas.microsoft.com/office/powerpoint/2010/main" val="2830067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DAC90B-EBB0-42BA-97EE-277CA9FCE455}" type="slidenum">
              <a:rPr lang="fr-FR" smtClean="0"/>
              <a:t>5</a:t>
            </a:fld>
            <a:endParaRPr lang="fr-FR"/>
          </a:p>
        </p:txBody>
      </p:sp>
    </p:spTree>
    <p:extLst>
      <p:ext uri="{BB962C8B-B14F-4D97-AF65-F5344CB8AC3E}">
        <p14:creationId xmlns:p14="http://schemas.microsoft.com/office/powerpoint/2010/main" val="2134314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DAC90B-EBB0-42BA-97EE-277CA9FCE455}" type="slidenum">
              <a:rPr lang="fr-FR" smtClean="0"/>
              <a:t>8</a:t>
            </a:fld>
            <a:endParaRPr lang="fr-FR"/>
          </a:p>
        </p:txBody>
      </p:sp>
    </p:spTree>
    <p:extLst>
      <p:ext uri="{BB962C8B-B14F-4D97-AF65-F5344CB8AC3E}">
        <p14:creationId xmlns:p14="http://schemas.microsoft.com/office/powerpoint/2010/main" val="1077235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DAC90B-EBB0-42BA-97EE-277CA9FCE455}" type="slidenum">
              <a:rPr lang="fr-FR" smtClean="0"/>
              <a:t>17</a:t>
            </a:fld>
            <a:endParaRPr lang="fr-FR"/>
          </a:p>
        </p:txBody>
      </p:sp>
    </p:spTree>
    <p:extLst>
      <p:ext uri="{BB962C8B-B14F-4D97-AF65-F5344CB8AC3E}">
        <p14:creationId xmlns:p14="http://schemas.microsoft.com/office/powerpoint/2010/main" val="3212193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DD3B2B7-99F1-432C-97CD-BADD5F9AEF40}" type="datetimeFigureOut">
              <a:rPr lang="fr-FR" smtClean="0"/>
              <a:t>11/04/2025</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2177521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DD3B2B7-99F1-432C-97CD-BADD5F9AEF40}" type="datetimeFigureOut">
              <a:rPr lang="fr-FR" smtClean="0"/>
              <a:t>11/04/2025</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275086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DD3B2B7-99F1-432C-97CD-BADD5F9AEF40}" type="datetimeFigureOut">
              <a:rPr lang="fr-FR" smtClean="0"/>
              <a:t>11/04/2025</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581382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DD3B2B7-99F1-432C-97CD-BADD5F9AEF40}" type="datetimeFigureOut">
              <a:rPr lang="fr-FR" smtClean="0"/>
              <a:t>11/04/2025</a:t>
            </a:fld>
            <a:endParaRPr lang="fr-FR"/>
          </a:p>
        </p:txBody>
      </p:sp>
      <p:sp>
        <p:nvSpPr>
          <p:cNvPr id="6" name="Footer Placeholder 5"/>
          <p:cNvSpPr>
            <a:spLocks noGrp="1"/>
          </p:cNvSpPr>
          <p:nvPr>
            <p:ph type="ftr" sz="quarter" idx="11"/>
          </p:nvPr>
        </p:nvSpPr>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38286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DD3B2B7-99F1-432C-97CD-BADD5F9AEF40}" type="datetimeFigureOut">
              <a:rPr lang="fr-FR" smtClean="0"/>
              <a:t>11/04/2025</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167809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DD3B2B7-99F1-432C-97CD-BADD5F9AEF40}" type="datetimeFigureOut">
              <a:rPr lang="fr-FR" smtClean="0"/>
              <a:t>11/04/2025</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2969476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D3B2B7-99F1-432C-97CD-BADD5F9AEF40}" type="datetimeFigureOut">
              <a:rPr lang="fr-FR" smtClean="0"/>
              <a:t>11/04/2025</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3697708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DD3B2B7-99F1-432C-97CD-BADD5F9AEF40}" type="datetimeFigureOut">
              <a:rPr lang="fr-FR" smtClean="0"/>
              <a:t>11/04/2025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1933523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DD3B2B7-99F1-432C-97CD-BADD5F9AEF40}" type="datetimeFigureOut">
              <a:rPr lang="fr-FR" smtClean="0"/>
              <a:t>11/04/2025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1430446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DD3B2B7-99F1-432C-97CD-BADD5F9AEF40}" type="datetimeFigureOut">
              <a:rPr lang="fr-FR" smtClean="0"/>
              <a:t>11/04/2025</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941422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DD3B2B7-99F1-432C-97CD-BADD5F9AEF40}" type="datetimeFigureOut">
              <a:rPr lang="fr-FR" smtClean="0"/>
              <a:t>11/04/2025</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A39B6AB-D30E-45FC-ABD1-679974999DC6}"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14382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DDD3B2B7-99F1-432C-97CD-BADD5F9AEF40}" type="datetimeFigureOut">
              <a:rPr lang="fr-FR" smtClean="0"/>
              <a:t>11/04/2025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1532821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DDD3B2B7-99F1-432C-97CD-BADD5F9AEF40}" type="datetimeFigureOut">
              <a:rPr lang="fr-FR" smtClean="0"/>
              <a:t>11/04/2025</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A39B6AB-D30E-45FC-ABD1-679974999DC6}"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99264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DDD3B2B7-99F1-432C-97CD-BADD5F9AEF40}" type="datetimeFigureOut">
              <a:rPr lang="fr-FR" smtClean="0"/>
              <a:t>11/04/2025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2975322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DD3B2B7-99F1-432C-97CD-BADD5F9AEF40}" type="datetimeFigureOut">
              <a:rPr lang="fr-FR" smtClean="0"/>
              <a:t>11/04/2025</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2914548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DD3B2B7-99F1-432C-97CD-BADD5F9AEF40}" type="datetimeFigureOut">
              <a:rPr lang="fr-FR" smtClean="0"/>
              <a:t>11/04/2025</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A39B6AB-D30E-45FC-ABD1-679974999DC6}" type="slidenum">
              <a:rPr lang="fr-FR" smtClean="0"/>
              <a:t>‹N°›</a:t>
            </a:fld>
            <a:endParaRPr lang="fr-FR"/>
          </a:p>
        </p:txBody>
      </p:sp>
    </p:spTree>
    <p:extLst>
      <p:ext uri="{BB962C8B-B14F-4D97-AF65-F5344CB8AC3E}">
        <p14:creationId xmlns:p14="http://schemas.microsoft.com/office/powerpoint/2010/main" val="4106156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DD3B2B7-99F1-432C-97CD-BADD5F9AEF40}" type="datetimeFigureOut">
              <a:rPr lang="fr-FR" smtClean="0"/>
              <a:t>11/04/2025</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A39B6AB-D30E-45FC-ABD1-679974999DC6}" type="slidenum">
              <a:rPr lang="fr-FR" smtClean="0"/>
              <a:t>‹N°›</a:t>
            </a:fld>
            <a:endParaRPr lang="fr-FR"/>
          </a:p>
        </p:txBody>
      </p:sp>
    </p:spTree>
    <p:extLst>
      <p:ext uri="{BB962C8B-B14F-4D97-AF65-F5344CB8AC3E}">
        <p14:creationId xmlns:p14="http://schemas.microsoft.com/office/powerpoint/2010/main" val="376276730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594DA8-D75E-B603-8DC3-43E1A771C5FE}"/>
              </a:ext>
            </a:extLst>
          </p:cNvPr>
          <p:cNvSpPr>
            <a:spLocks noGrp="1"/>
          </p:cNvSpPr>
          <p:nvPr>
            <p:ph type="ctrTitle"/>
          </p:nvPr>
        </p:nvSpPr>
        <p:spPr/>
        <p:txBody>
          <a:bodyPr/>
          <a:lstStyle/>
          <a:p>
            <a:r>
              <a:rPr lang="fr-FR" dirty="0"/>
              <a:t>Réunion de restitution</a:t>
            </a:r>
          </a:p>
        </p:txBody>
      </p:sp>
      <p:sp>
        <p:nvSpPr>
          <p:cNvPr id="3" name="Sous-titre 2">
            <a:extLst>
              <a:ext uri="{FF2B5EF4-FFF2-40B4-BE49-F238E27FC236}">
                <a16:creationId xmlns:a16="http://schemas.microsoft.com/office/drawing/2014/main" id="{9CFEEF7F-F1B0-5DD8-7C8C-DB8510F3F11E}"/>
              </a:ext>
            </a:extLst>
          </p:cNvPr>
          <p:cNvSpPr>
            <a:spLocks noGrp="1"/>
          </p:cNvSpPr>
          <p:nvPr>
            <p:ph type="subTitle" idx="1"/>
          </p:nvPr>
        </p:nvSpPr>
        <p:spPr/>
        <p:txBody>
          <a:bodyPr>
            <a:normAutofit lnSpcReduction="10000"/>
          </a:bodyPr>
          <a:lstStyle/>
          <a:p>
            <a:r>
              <a:rPr lang="fr-FR" i="1" dirty="0" err="1"/>
              <a:t>Pentest</a:t>
            </a:r>
            <a:r>
              <a:rPr lang="fr-FR" i="1" dirty="0"/>
              <a:t> de la clinique de Frontignan</a:t>
            </a:r>
          </a:p>
          <a:p>
            <a:endParaRPr lang="fr-FR" i="1" dirty="0"/>
          </a:p>
          <a:p>
            <a:r>
              <a:rPr lang="fr-FR" i="1" dirty="0"/>
              <a:t>Walid Rhouma</a:t>
            </a:r>
          </a:p>
        </p:txBody>
      </p:sp>
    </p:spTree>
    <p:extLst>
      <p:ext uri="{BB962C8B-B14F-4D97-AF65-F5344CB8AC3E}">
        <p14:creationId xmlns:p14="http://schemas.microsoft.com/office/powerpoint/2010/main" val="676567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0EE396-AAD2-D568-99D2-C6817D7D54DA}"/>
              </a:ext>
            </a:extLst>
          </p:cNvPr>
          <p:cNvSpPr>
            <a:spLocks noGrp="1"/>
          </p:cNvSpPr>
          <p:nvPr>
            <p:ph type="title"/>
          </p:nvPr>
        </p:nvSpPr>
        <p:spPr/>
        <p:txBody>
          <a:bodyPr/>
          <a:lstStyle/>
          <a:p>
            <a:r>
              <a:rPr lang="fr-FR" dirty="0"/>
              <a:t>Sommaire</a:t>
            </a:r>
          </a:p>
        </p:txBody>
      </p:sp>
      <p:sp>
        <p:nvSpPr>
          <p:cNvPr id="3" name="Espace réservé du contenu 2">
            <a:extLst>
              <a:ext uri="{FF2B5EF4-FFF2-40B4-BE49-F238E27FC236}">
                <a16:creationId xmlns:a16="http://schemas.microsoft.com/office/drawing/2014/main" id="{576F9D08-F2F1-54AE-9FAA-2AC3CF32E096}"/>
              </a:ext>
            </a:extLst>
          </p:cNvPr>
          <p:cNvSpPr>
            <a:spLocks noGrp="1"/>
          </p:cNvSpPr>
          <p:nvPr>
            <p:ph idx="1"/>
          </p:nvPr>
        </p:nvSpPr>
        <p:spPr/>
        <p:txBody>
          <a:bodyPr/>
          <a:lstStyle/>
          <a:p>
            <a:pPr>
              <a:buFont typeface="+mj-lt"/>
              <a:buAutoNum type="arabicParenR"/>
            </a:pPr>
            <a:r>
              <a:rPr lang="fr-FR" dirty="0"/>
              <a:t>Contexte et périmètre</a:t>
            </a:r>
          </a:p>
          <a:p>
            <a:pPr>
              <a:buFont typeface="+mj-lt"/>
              <a:buAutoNum type="arabicParenR"/>
            </a:pPr>
            <a:endParaRPr lang="fr-FR" dirty="0"/>
          </a:p>
          <a:p>
            <a:pPr>
              <a:buFont typeface="+mj-lt"/>
              <a:buAutoNum type="arabicParenR"/>
            </a:pPr>
            <a:r>
              <a:rPr lang="fr-FR" dirty="0"/>
              <a:t>Méthodologie</a:t>
            </a:r>
          </a:p>
          <a:p>
            <a:pPr>
              <a:buFont typeface="+mj-lt"/>
              <a:buAutoNum type="arabicParenR"/>
            </a:pPr>
            <a:endParaRPr lang="fr-FR" dirty="0"/>
          </a:p>
          <a:p>
            <a:pPr>
              <a:buFont typeface="+mj-lt"/>
              <a:buAutoNum type="arabicParenR"/>
            </a:pPr>
            <a:r>
              <a:rPr lang="fr-FR" dirty="0"/>
              <a:t>Vulnérabilités</a:t>
            </a:r>
          </a:p>
          <a:p>
            <a:pPr>
              <a:buFont typeface="+mj-lt"/>
              <a:buAutoNum type="arabicParenR"/>
            </a:pPr>
            <a:endParaRPr lang="fr-FR" dirty="0"/>
          </a:p>
          <a:p>
            <a:pPr>
              <a:buFont typeface="+mj-lt"/>
              <a:buAutoNum type="arabicParenR"/>
            </a:pPr>
            <a:r>
              <a:rPr lang="fr-FR" dirty="0"/>
              <a:t>Plan d’action</a:t>
            </a:r>
          </a:p>
        </p:txBody>
      </p:sp>
    </p:spTree>
    <p:extLst>
      <p:ext uri="{BB962C8B-B14F-4D97-AF65-F5344CB8AC3E}">
        <p14:creationId xmlns:p14="http://schemas.microsoft.com/office/powerpoint/2010/main" val="3504455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BA9179-31DC-3741-887F-604A88BEF95A}"/>
              </a:ext>
            </a:extLst>
          </p:cNvPr>
          <p:cNvSpPr>
            <a:spLocks noGrp="1"/>
          </p:cNvSpPr>
          <p:nvPr>
            <p:ph type="title"/>
          </p:nvPr>
        </p:nvSpPr>
        <p:spPr/>
        <p:txBody>
          <a:bodyPr/>
          <a:lstStyle/>
          <a:p>
            <a:r>
              <a:rPr lang="fr-FR" dirty="0"/>
              <a:t>Contexte et périmètre</a:t>
            </a:r>
          </a:p>
        </p:txBody>
      </p:sp>
      <p:sp>
        <p:nvSpPr>
          <p:cNvPr id="3" name="Espace réservé du contenu 2">
            <a:extLst>
              <a:ext uri="{FF2B5EF4-FFF2-40B4-BE49-F238E27FC236}">
                <a16:creationId xmlns:a16="http://schemas.microsoft.com/office/drawing/2014/main" id="{BE85D5DD-71BE-BD8B-ED61-5B434F1FCCC5}"/>
              </a:ext>
            </a:extLst>
          </p:cNvPr>
          <p:cNvSpPr>
            <a:spLocks noGrp="1"/>
          </p:cNvSpPr>
          <p:nvPr>
            <p:ph idx="1"/>
          </p:nvPr>
        </p:nvSpPr>
        <p:spPr/>
        <p:txBody>
          <a:bodyPr>
            <a:normAutofit fontScale="92500" lnSpcReduction="20000"/>
          </a:bodyPr>
          <a:lstStyle/>
          <a:p>
            <a:r>
              <a:rPr lang="fr-FR" b="1" dirty="0"/>
              <a:t>Contexte :</a:t>
            </a:r>
          </a:p>
          <a:p>
            <a:endParaRPr lang="fr-FR" dirty="0"/>
          </a:p>
          <a:p>
            <a:pPr marL="0" indent="0">
              <a:buNone/>
            </a:pPr>
            <a:r>
              <a:rPr lang="fr-FR" dirty="0"/>
              <a:t>Date : Le 11/04/2025</a:t>
            </a:r>
          </a:p>
          <a:p>
            <a:pPr marL="0" indent="0">
              <a:buNone/>
            </a:pPr>
            <a:r>
              <a:rPr lang="fr-FR" dirty="0"/>
              <a:t>Client : La clinique de Frontignan</a:t>
            </a:r>
          </a:p>
          <a:p>
            <a:pPr marL="0" indent="0">
              <a:buNone/>
            </a:pPr>
            <a:r>
              <a:rPr lang="fr-FR" sz="1800" dirty="0">
                <a:latin typeface="+mj-lt"/>
                <a:ea typeface="Open Sans" panose="020B0606030504020204" pitchFamily="34" charset="0"/>
                <a:cs typeface="Open Sans" panose="020B0606030504020204" pitchFamily="34" charset="0"/>
              </a:rPr>
              <a:t>La Clinique de Frontignan souhaite renforcer la sécurité de son système d’information en particulier son Active Directory.</a:t>
            </a:r>
          </a:p>
          <a:p>
            <a:pPr marL="0" indent="0">
              <a:buNone/>
            </a:pPr>
            <a:r>
              <a:rPr lang="fr-FR" sz="1800" dirty="0">
                <a:latin typeface="+mj-lt"/>
                <a:ea typeface="Open Sans" panose="020B0606030504020204" pitchFamily="34" charset="0"/>
                <a:cs typeface="Open Sans" panose="020B0606030504020204" pitchFamily="34" charset="0"/>
              </a:rPr>
              <a:t>Dans ce cadre, la Direction des Systèmes d’Information (DSI) a mandaté un audit de sécurité pour :</a:t>
            </a:r>
          </a:p>
          <a:p>
            <a:pPr marL="0" indent="0">
              <a:buNone/>
            </a:pPr>
            <a:endParaRPr lang="fr-FR" sz="1800" dirty="0">
              <a:latin typeface="+mj-lt"/>
              <a:ea typeface="Open Sans" panose="020B0606030504020204" pitchFamily="34" charset="0"/>
              <a:cs typeface="Open Sans" panose="020B0606030504020204" pitchFamily="34" charset="0"/>
            </a:endParaRPr>
          </a:p>
          <a:p>
            <a:pPr>
              <a:buFont typeface="Wingdings" panose="05000000000000000000" pitchFamily="2" charset="2"/>
              <a:buChar char="Ø"/>
            </a:pPr>
            <a:r>
              <a:rPr lang="fr-FR" dirty="0">
                <a:latin typeface="+mj-lt"/>
                <a:ea typeface="Open Sans" panose="020B0606030504020204" pitchFamily="34" charset="0"/>
                <a:cs typeface="Open Sans" panose="020B0606030504020204" pitchFamily="34" charset="0"/>
              </a:rPr>
              <a:t>Identifier les vulnérabilités de l’AD</a:t>
            </a:r>
          </a:p>
          <a:p>
            <a:pPr>
              <a:buFont typeface="Wingdings" panose="05000000000000000000" pitchFamily="2" charset="2"/>
              <a:buChar char="Ø"/>
            </a:pPr>
            <a:r>
              <a:rPr lang="fr-FR" sz="1800" dirty="0">
                <a:latin typeface="+mj-lt"/>
                <a:ea typeface="Open Sans" panose="020B0606030504020204" pitchFamily="34" charset="0"/>
                <a:cs typeface="Open Sans" panose="020B0606030504020204" pitchFamily="34" charset="0"/>
              </a:rPr>
              <a:t>Evaluer les risques de compromission</a:t>
            </a:r>
          </a:p>
          <a:p>
            <a:pPr>
              <a:buFont typeface="Wingdings" panose="05000000000000000000" pitchFamily="2" charset="2"/>
              <a:buChar char="Ø"/>
            </a:pPr>
            <a:r>
              <a:rPr lang="fr-FR" dirty="0">
                <a:latin typeface="+mj-lt"/>
                <a:ea typeface="Open Sans" panose="020B0606030504020204" pitchFamily="34" charset="0"/>
                <a:cs typeface="Open Sans" panose="020B0606030504020204" pitchFamily="34" charset="0"/>
              </a:rPr>
              <a:t>Proposer un plan correctif</a:t>
            </a:r>
            <a:endParaRPr lang="fr-FR" sz="1800" dirty="0">
              <a:latin typeface="+mj-lt"/>
              <a:ea typeface="Open Sans" panose="020B0606030504020204" pitchFamily="34" charset="0"/>
              <a:cs typeface="Open Sans" panose="020B0606030504020204" pitchFamily="34" charset="0"/>
            </a:endParaRPr>
          </a:p>
          <a:p>
            <a:pPr>
              <a:buFont typeface="Wingdings" panose="05000000000000000000" pitchFamily="2" charset="2"/>
              <a:buChar char="Ø"/>
            </a:pPr>
            <a:endParaRPr lang="fr-FR" dirty="0">
              <a:latin typeface="+mj-lt"/>
            </a:endParaRPr>
          </a:p>
        </p:txBody>
      </p:sp>
    </p:spTree>
    <p:extLst>
      <p:ext uri="{BB962C8B-B14F-4D97-AF65-F5344CB8AC3E}">
        <p14:creationId xmlns:p14="http://schemas.microsoft.com/office/powerpoint/2010/main" val="212202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09FBCB-21D7-5DFC-D6BC-9BF996FC9A64}"/>
              </a:ext>
            </a:extLst>
          </p:cNvPr>
          <p:cNvSpPr>
            <a:spLocks noGrp="1"/>
          </p:cNvSpPr>
          <p:nvPr>
            <p:ph type="title"/>
          </p:nvPr>
        </p:nvSpPr>
        <p:spPr/>
        <p:txBody>
          <a:bodyPr/>
          <a:lstStyle/>
          <a:p>
            <a:r>
              <a:rPr lang="fr-FR" dirty="0"/>
              <a:t>Contexte et périmètre</a:t>
            </a:r>
          </a:p>
        </p:txBody>
      </p:sp>
      <p:sp>
        <p:nvSpPr>
          <p:cNvPr id="3" name="Espace réservé du contenu 2">
            <a:extLst>
              <a:ext uri="{FF2B5EF4-FFF2-40B4-BE49-F238E27FC236}">
                <a16:creationId xmlns:a16="http://schemas.microsoft.com/office/drawing/2014/main" id="{989FFD66-0D59-7397-6823-B3A1FCFE1F0C}"/>
              </a:ext>
            </a:extLst>
          </p:cNvPr>
          <p:cNvSpPr>
            <a:spLocks noGrp="1"/>
          </p:cNvSpPr>
          <p:nvPr>
            <p:ph idx="1"/>
          </p:nvPr>
        </p:nvSpPr>
        <p:spPr/>
        <p:txBody>
          <a:bodyPr>
            <a:normAutofit fontScale="92500" lnSpcReduction="10000"/>
          </a:bodyPr>
          <a:lstStyle/>
          <a:p>
            <a:r>
              <a:rPr lang="fr-FR" b="1" dirty="0"/>
              <a:t>Périmètre:</a:t>
            </a:r>
          </a:p>
          <a:p>
            <a:pPr marL="0" indent="0">
              <a:buNone/>
            </a:pPr>
            <a:r>
              <a:rPr lang="fr-FR" dirty="0"/>
              <a:t>L’audit de sécurité porte sur l’environnement Active Directory de la clinique de Frontignan incluant :</a:t>
            </a:r>
          </a:p>
          <a:p>
            <a:pPr marL="0" indent="0">
              <a:buNone/>
            </a:pPr>
            <a:endParaRPr lang="fr-FR" dirty="0"/>
          </a:p>
          <a:p>
            <a:pPr>
              <a:buFont typeface="Wingdings" panose="05000000000000000000" pitchFamily="2" charset="2"/>
              <a:buChar char="Ø"/>
            </a:pPr>
            <a:r>
              <a:rPr lang="fr-FR" dirty="0"/>
              <a:t>Les machines du réseau 10.10.10.0/24</a:t>
            </a:r>
          </a:p>
          <a:p>
            <a:pPr>
              <a:buFont typeface="Wingdings" panose="05000000000000000000" pitchFamily="2" charset="2"/>
              <a:buChar char="Ø"/>
            </a:pPr>
            <a:r>
              <a:rPr lang="fr-FR" dirty="0"/>
              <a:t>Les comptes utilisateurs, groupes et droits d’accès</a:t>
            </a:r>
          </a:p>
          <a:p>
            <a:pPr>
              <a:buFont typeface="Wingdings" panose="05000000000000000000" pitchFamily="2" charset="2"/>
              <a:buChar char="Ø"/>
            </a:pPr>
            <a:r>
              <a:rPr lang="fr-FR" dirty="0"/>
              <a:t>La stratégie de mot de passe</a:t>
            </a:r>
          </a:p>
          <a:p>
            <a:pPr>
              <a:buFont typeface="Wingdings" panose="05000000000000000000" pitchFamily="2" charset="2"/>
              <a:buChar char="Ø"/>
            </a:pPr>
            <a:r>
              <a:rPr lang="fr-FR" dirty="0"/>
              <a:t>Les protocoles réseau utilisés (LDAP,SMB,SSH,RDP,…)</a:t>
            </a:r>
          </a:p>
          <a:p>
            <a:pPr>
              <a:buFont typeface="Wingdings" panose="05000000000000000000" pitchFamily="2" charset="2"/>
              <a:buChar char="Ø"/>
            </a:pPr>
            <a:endParaRPr lang="fr-FR" dirty="0"/>
          </a:p>
          <a:p>
            <a:pPr marL="0" indent="0">
              <a:buNone/>
            </a:pPr>
            <a:r>
              <a:rPr lang="fr-FR" dirty="0"/>
              <a:t>Les tests incluent une phase d’énumération, une tentative de compromission et une analyse des risques liés à la configuration actuelle.</a:t>
            </a:r>
          </a:p>
          <a:p>
            <a:pPr marL="0" indent="0">
              <a:buNone/>
            </a:pPr>
            <a:endParaRPr lang="fr-FR" dirty="0"/>
          </a:p>
        </p:txBody>
      </p:sp>
    </p:spTree>
    <p:extLst>
      <p:ext uri="{BB962C8B-B14F-4D97-AF65-F5344CB8AC3E}">
        <p14:creationId xmlns:p14="http://schemas.microsoft.com/office/powerpoint/2010/main" val="3466604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A17E8D-962B-C86F-B14F-B31FF4C1513A}"/>
              </a:ext>
            </a:extLst>
          </p:cNvPr>
          <p:cNvSpPr>
            <a:spLocks noGrp="1"/>
          </p:cNvSpPr>
          <p:nvPr>
            <p:ph type="title"/>
          </p:nvPr>
        </p:nvSpPr>
        <p:spPr/>
        <p:txBody>
          <a:bodyPr/>
          <a:lstStyle/>
          <a:p>
            <a:r>
              <a:rPr lang="fr-FR" dirty="0"/>
              <a:t>Méthodologie</a:t>
            </a:r>
          </a:p>
        </p:txBody>
      </p:sp>
      <p:sp>
        <p:nvSpPr>
          <p:cNvPr id="3" name="Espace réservé du contenu 2">
            <a:extLst>
              <a:ext uri="{FF2B5EF4-FFF2-40B4-BE49-F238E27FC236}">
                <a16:creationId xmlns:a16="http://schemas.microsoft.com/office/drawing/2014/main" id="{1A37518A-BD27-09DB-25E1-245D126F324A}"/>
              </a:ext>
            </a:extLst>
          </p:cNvPr>
          <p:cNvSpPr>
            <a:spLocks noGrp="1"/>
          </p:cNvSpPr>
          <p:nvPr>
            <p:ph idx="1"/>
          </p:nvPr>
        </p:nvSpPr>
        <p:spPr>
          <a:xfrm>
            <a:off x="2589212" y="1493134"/>
            <a:ext cx="9436884" cy="4870596"/>
          </a:xfrm>
        </p:spPr>
        <p:txBody>
          <a:bodyPr>
            <a:normAutofit lnSpcReduction="10000"/>
          </a:bodyPr>
          <a:lstStyle/>
          <a:p>
            <a:pPr marL="0" indent="0">
              <a:buNone/>
            </a:pPr>
            <a:r>
              <a:rPr lang="fr-FR" dirty="0"/>
              <a:t>La méthodologie de ce test d’intrusion suit un cycle structuré</a:t>
            </a:r>
            <a:r>
              <a:rPr lang="fr-FR"/>
              <a:t>, allant de </a:t>
            </a:r>
            <a:r>
              <a:rPr lang="fr-FR" dirty="0"/>
              <a:t>la reconnaissance jusqu’à la compromission du domaine Active Directory. Elle inclut le gain d’accès initial, l’élévation de privilèges, le mouvement latéral, la mise en place d’un accès persistant, et se conclut par un nettoyage et la rédaction d’un rapport.</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sz="1700" dirty="0"/>
          </a:p>
          <a:p>
            <a:pPr marL="0" indent="0">
              <a:buNone/>
            </a:pPr>
            <a:endParaRPr lang="fr-FR" sz="1700" dirty="0"/>
          </a:p>
          <a:p>
            <a:pPr marL="0" indent="0">
              <a:buNone/>
            </a:pPr>
            <a:r>
              <a:rPr lang="fr-FR" sz="1700" dirty="0"/>
              <a:t>Chaque étape de ce cycle vise à reproduire les techniques utilisées par un attaquant réel afin d’évaluer concrètement le niveau de sécurité de l’AD.</a:t>
            </a:r>
          </a:p>
          <a:p>
            <a:pPr marL="0" indent="0">
              <a:buNone/>
            </a:pPr>
            <a:endParaRPr lang="fr-FR" dirty="0"/>
          </a:p>
        </p:txBody>
      </p:sp>
      <p:pic>
        <p:nvPicPr>
          <p:cNvPr id="7" name="Image 6" descr="Une image contenant texte, capture d’écran, diagramme, ligne&#10;&#10;Le contenu généré par l’IA peut être incorrect.">
            <a:extLst>
              <a:ext uri="{FF2B5EF4-FFF2-40B4-BE49-F238E27FC236}">
                <a16:creationId xmlns:a16="http://schemas.microsoft.com/office/drawing/2014/main" id="{6F03895F-246D-11B7-6293-5411EF75FC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771" y="2914230"/>
            <a:ext cx="6575561" cy="2363826"/>
          </a:xfrm>
          <a:prstGeom prst="rect">
            <a:avLst/>
          </a:prstGeom>
        </p:spPr>
      </p:pic>
    </p:spTree>
    <p:extLst>
      <p:ext uri="{BB962C8B-B14F-4D97-AF65-F5344CB8AC3E}">
        <p14:creationId xmlns:p14="http://schemas.microsoft.com/office/powerpoint/2010/main" val="1775049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AA74F6-3A93-687A-CBBA-CD85D2B705C3}"/>
              </a:ext>
            </a:extLst>
          </p:cNvPr>
          <p:cNvSpPr>
            <a:spLocks noGrp="1"/>
          </p:cNvSpPr>
          <p:nvPr>
            <p:ph type="title"/>
          </p:nvPr>
        </p:nvSpPr>
        <p:spPr/>
        <p:txBody>
          <a:bodyPr/>
          <a:lstStyle/>
          <a:p>
            <a:r>
              <a:rPr lang="fr-FR" dirty="0"/>
              <a:t>Vulnérabilités</a:t>
            </a:r>
          </a:p>
        </p:txBody>
      </p:sp>
      <p:sp>
        <p:nvSpPr>
          <p:cNvPr id="3" name="Espace réservé du contenu 2">
            <a:extLst>
              <a:ext uri="{FF2B5EF4-FFF2-40B4-BE49-F238E27FC236}">
                <a16:creationId xmlns:a16="http://schemas.microsoft.com/office/drawing/2014/main" id="{26D6D0DC-844D-7E1E-C8F9-6F52D37B54B1}"/>
              </a:ext>
            </a:extLst>
          </p:cNvPr>
          <p:cNvSpPr>
            <a:spLocks noGrp="1"/>
          </p:cNvSpPr>
          <p:nvPr>
            <p:ph idx="1"/>
          </p:nvPr>
        </p:nvSpPr>
        <p:spPr/>
        <p:txBody>
          <a:bodyPr>
            <a:normAutofit/>
          </a:bodyPr>
          <a:lstStyle/>
          <a:p>
            <a:r>
              <a:rPr lang="fr-FR" sz="1700" dirty="0"/>
              <a:t>V01 – Absence de segmentation réseau</a:t>
            </a:r>
          </a:p>
          <a:p>
            <a:r>
              <a:rPr lang="fr-FR" sz="1700" dirty="0"/>
              <a:t>Description : La non-segmentation du réseau 10.10.10.0/24 facilite les mouvements latéraux en cas de compromission</a:t>
            </a:r>
          </a:p>
          <a:p>
            <a:r>
              <a:rPr lang="fr-FR" sz="1700" dirty="0"/>
              <a:t>Criticité : Elevée </a:t>
            </a:r>
          </a:p>
          <a:p>
            <a:r>
              <a:rPr lang="fr-FR" sz="1700" dirty="0"/>
              <a:t>Recommandations : </a:t>
            </a:r>
          </a:p>
          <a:p>
            <a:pPr marL="0" indent="0">
              <a:buNone/>
            </a:pPr>
            <a:endParaRPr lang="fr-FR" sz="1700" dirty="0"/>
          </a:p>
          <a:p>
            <a:pPr marL="717550">
              <a:buFont typeface="Wingdings" panose="05000000000000000000" pitchFamily="2" charset="2"/>
              <a:buChar char="ü"/>
            </a:pPr>
            <a:r>
              <a:rPr lang="fr-FR" sz="1700" dirty="0"/>
              <a:t>Mise en place de VLAN dédiés</a:t>
            </a:r>
          </a:p>
          <a:p>
            <a:pPr marL="717550">
              <a:buFont typeface="Wingdings" panose="05000000000000000000" pitchFamily="2" charset="2"/>
              <a:buChar char="ü"/>
            </a:pPr>
            <a:r>
              <a:rPr lang="fr-FR" sz="1700" dirty="0"/>
              <a:t>Appliquer des ACL pour la gestion des flux inter-vlan</a:t>
            </a:r>
          </a:p>
          <a:p>
            <a:pPr marL="717550">
              <a:buFont typeface="Wingdings" panose="05000000000000000000" pitchFamily="2" charset="2"/>
              <a:buChar char="ü"/>
            </a:pPr>
            <a:r>
              <a:rPr lang="fr-FR" sz="1700" dirty="0"/>
              <a:t> Définir des règles de pare-feu strictes</a:t>
            </a:r>
          </a:p>
        </p:txBody>
      </p:sp>
    </p:spTree>
    <p:extLst>
      <p:ext uri="{BB962C8B-B14F-4D97-AF65-F5344CB8AC3E}">
        <p14:creationId xmlns:p14="http://schemas.microsoft.com/office/powerpoint/2010/main" val="280599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9029DF-352C-7E31-3B78-5380F9D51904}"/>
              </a:ext>
            </a:extLst>
          </p:cNvPr>
          <p:cNvSpPr>
            <a:spLocks noGrp="1"/>
          </p:cNvSpPr>
          <p:nvPr>
            <p:ph type="title"/>
          </p:nvPr>
        </p:nvSpPr>
        <p:spPr/>
        <p:txBody>
          <a:bodyPr/>
          <a:lstStyle/>
          <a:p>
            <a:r>
              <a:rPr lang="fr-FR" dirty="0"/>
              <a:t> Vulnérabilités</a:t>
            </a:r>
          </a:p>
        </p:txBody>
      </p:sp>
      <p:sp>
        <p:nvSpPr>
          <p:cNvPr id="3" name="Espace réservé du contenu 2">
            <a:extLst>
              <a:ext uri="{FF2B5EF4-FFF2-40B4-BE49-F238E27FC236}">
                <a16:creationId xmlns:a16="http://schemas.microsoft.com/office/drawing/2014/main" id="{CD418564-FA7E-264B-1493-865DDAADFD97}"/>
              </a:ext>
            </a:extLst>
          </p:cNvPr>
          <p:cNvSpPr>
            <a:spLocks noGrp="1"/>
          </p:cNvSpPr>
          <p:nvPr>
            <p:ph idx="1"/>
          </p:nvPr>
        </p:nvSpPr>
        <p:spPr>
          <a:xfrm>
            <a:off x="2585499" y="1994703"/>
            <a:ext cx="8915400" cy="3943109"/>
          </a:xfrm>
        </p:spPr>
        <p:txBody>
          <a:bodyPr>
            <a:noAutofit/>
          </a:bodyPr>
          <a:lstStyle/>
          <a:p>
            <a:r>
              <a:rPr lang="fr-FR" sz="1700" dirty="0"/>
              <a:t>V02 – Absence de sécurisation des services LDAP</a:t>
            </a:r>
          </a:p>
          <a:p>
            <a:r>
              <a:rPr lang="fr-FR" sz="1700" dirty="0"/>
              <a:t>Description : Le service LDAP est présent et accessible en clair, exposant des données sensibles (utilisateurs, groupes, machines) à des risques d’interception ou d’abus.</a:t>
            </a:r>
            <a:endParaRPr lang="fr-FR" sz="1700" i="1" dirty="0">
              <a:solidFill>
                <a:schemeClr val="tx1"/>
              </a:solidFill>
            </a:endParaRPr>
          </a:p>
          <a:p>
            <a:r>
              <a:rPr lang="fr-FR" sz="1700" dirty="0"/>
              <a:t>Criticité : Moyenne</a:t>
            </a:r>
          </a:p>
          <a:p>
            <a:r>
              <a:rPr lang="fr-FR" sz="1700" dirty="0"/>
              <a:t>Recommandations :</a:t>
            </a:r>
          </a:p>
          <a:p>
            <a:pPr marL="0" indent="0">
              <a:buNone/>
            </a:pPr>
            <a:endParaRPr lang="fr-FR" sz="1700" dirty="0"/>
          </a:p>
          <a:p>
            <a:pPr marL="717550">
              <a:buFont typeface="Wingdings" panose="05000000000000000000" pitchFamily="2" charset="2"/>
              <a:buChar char="ü"/>
            </a:pPr>
            <a:r>
              <a:rPr lang="fr-FR" sz="1700" dirty="0">
                <a:effectLst/>
                <a:latin typeface="+mj-lt"/>
                <a:ea typeface="Open Sans" panose="020B0606030504020204" pitchFamily="34" charset="0"/>
                <a:cs typeface="Open Sans" panose="020B0606030504020204" pitchFamily="34" charset="0"/>
              </a:rPr>
              <a:t>Désactiver le port 389 sur le contrôleur de domaine</a:t>
            </a:r>
          </a:p>
          <a:p>
            <a:pPr marL="717550">
              <a:buFont typeface="Wingdings" panose="05000000000000000000" pitchFamily="2" charset="2"/>
              <a:buChar char="ü"/>
            </a:pPr>
            <a:r>
              <a:rPr lang="fr-FR" sz="1700" dirty="0">
                <a:effectLst/>
                <a:latin typeface="+mj-lt"/>
                <a:ea typeface="Open Sans" panose="020B0606030504020204" pitchFamily="34" charset="0"/>
                <a:cs typeface="Open Sans" panose="020B0606030504020204" pitchFamily="34" charset="0"/>
              </a:rPr>
              <a:t>Forcer LDAPS (port 636) avec un certificat TLS/SSL valide</a:t>
            </a:r>
          </a:p>
          <a:p>
            <a:pPr marL="717550">
              <a:buFont typeface="Wingdings" panose="05000000000000000000" pitchFamily="2" charset="2"/>
              <a:buChar char="ü"/>
            </a:pPr>
            <a:r>
              <a:rPr lang="fr-FR" sz="1700" dirty="0">
                <a:effectLst/>
                <a:latin typeface="+mj-lt"/>
                <a:ea typeface="Open Sans" panose="020B0606030504020204" pitchFamily="34" charset="0"/>
                <a:cs typeface="Open Sans" panose="020B0606030504020204" pitchFamily="34" charset="0"/>
              </a:rPr>
              <a:t>Désactiver l’accès anonyme et restreindre les utilisateurs pouvant interroger l’annuaire</a:t>
            </a:r>
          </a:p>
          <a:p>
            <a:pPr marL="717550">
              <a:buFont typeface="Wingdings" panose="05000000000000000000" pitchFamily="2" charset="2"/>
              <a:buChar char="ü"/>
            </a:pPr>
            <a:r>
              <a:rPr lang="fr-FR" sz="1700" dirty="0">
                <a:effectLst/>
                <a:latin typeface="+mj-lt"/>
                <a:ea typeface="Open Sans" panose="020B0606030504020204" pitchFamily="34" charset="0"/>
                <a:cs typeface="Open Sans" panose="020B0606030504020204" pitchFamily="34" charset="0"/>
              </a:rPr>
              <a:t>Modifier la configuration des applications utilisant LDAP pour utiliser LDAPS</a:t>
            </a:r>
            <a:endParaRPr lang="fr-FR" sz="1700" dirty="0">
              <a:latin typeface="+mj-lt"/>
            </a:endParaRPr>
          </a:p>
          <a:p>
            <a:pPr marL="0" indent="0">
              <a:buNone/>
            </a:pPr>
            <a:endParaRPr lang="fr-FR" sz="1700" dirty="0"/>
          </a:p>
        </p:txBody>
      </p:sp>
    </p:spTree>
    <p:extLst>
      <p:ext uri="{BB962C8B-B14F-4D97-AF65-F5344CB8AC3E}">
        <p14:creationId xmlns:p14="http://schemas.microsoft.com/office/powerpoint/2010/main" val="1189275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16E35D-4CD2-FFF1-2653-E6A088FF5DEA}"/>
              </a:ext>
            </a:extLst>
          </p:cNvPr>
          <p:cNvSpPr>
            <a:spLocks noGrp="1"/>
          </p:cNvSpPr>
          <p:nvPr>
            <p:ph type="title"/>
          </p:nvPr>
        </p:nvSpPr>
        <p:spPr/>
        <p:txBody>
          <a:bodyPr/>
          <a:lstStyle/>
          <a:p>
            <a:r>
              <a:rPr lang="fr-FR" dirty="0"/>
              <a:t>Vulnérabilités</a:t>
            </a:r>
          </a:p>
        </p:txBody>
      </p:sp>
      <p:sp>
        <p:nvSpPr>
          <p:cNvPr id="3" name="Espace réservé du contenu 2">
            <a:extLst>
              <a:ext uri="{FF2B5EF4-FFF2-40B4-BE49-F238E27FC236}">
                <a16:creationId xmlns:a16="http://schemas.microsoft.com/office/drawing/2014/main" id="{48DC7E57-532E-2F0B-1421-C52E0A761272}"/>
              </a:ext>
            </a:extLst>
          </p:cNvPr>
          <p:cNvSpPr>
            <a:spLocks noGrp="1"/>
          </p:cNvSpPr>
          <p:nvPr>
            <p:ph idx="1"/>
          </p:nvPr>
        </p:nvSpPr>
        <p:spPr/>
        <p:txBody>
          <a:bodyPr/>
          <a:lstStyle/>
          <a:p>
            <a:r>
              <a:rPr lang="fr-FR" sz="1700" dirty="0"/>
              <a:t>V03 – SMB </a:t>
            </a:r>
            <a:r>
              <a:rPr lang="fr-FR" sz="1700" dirty="0" err="1"/>
              <a:t>signing</a:t>
            </a:r>
            <a:r>
              <a:rPr lang="fr-FR" sz="1700" dirty="0"/>
              <a:t> désactivé sur certaines machines</a:t>
            </a:r>
          </a:p>
          <a:p>
            <a:r>
              <a:rPr lang="fr-FR" sz="1700" dirty="0"/>
              <a:t>Description : L’absence de signature SMB permet des attaques de type NTLM </a:t>
            </a:r>
            <a:r>
              <a:rPr lang="fr-FR" sz="1700" dirty="0" err="1"/>
              <a:t>relay</a:t>
            </a:r>
            <a:r>
              <a:rPr lang="fr-FR" sz="1700" dirty="0"/>
              <a:t> facilitant la compromission sons mot de passe valide.</a:t>
            </a:r>
          </a:p>
          <a:p>
            <a:r>
              <a:rPr lang="fr-FR" sz="1700" dirty="0"/>
              <a:t>Criticité : Moyenne</a:t>
            </a:r>
          </a:p>
          <a:p>
            <a:r>
              <a:rPr lang="fr-FR" sz="1700" dirty="0"/>
              <a:t>Recommandations :</a:t>
            </a:r>
          </a:p>
          <a:p>
            <a:endParaRPr lang="fr-FR" sz="1700" dirty="0"/>
          </a:p>
          <a:p>
            <a:pPr marL="717550" indent="-358775">
              <a:buFont typeface="Wingdings" panose="05000000000000000000" pitchFamily="2" charset="2"/>
              <a:buChar char="ü"/>
            </a:pPr>
            <a:r>
              <a:rPr lang="fr-FR" sz="1700" dirty="0"/>
              <a:t>Activer le SMB </a:t>
            </a:r>
            <a:r>
              <a:rPr lang="fr-FR" sz="1700" dirty="0" err="1"/>
              <a:t>Signing</a:t>
            </a:r>
            <a:r>
              <a:rPr lang="fr-FR" sz="1700" dirty="0"/>
              <a:t> sur tous les hôtes du domaine via GPO</a:t>
            </a:r>
          </a:p>
          <a:p>
            <a:pPr marL="717550" indent="-358775">
              <a:buFont typeface="Wingdings" panose="05000000000000000000" pitchFamily="2" charset="2"/>
              <a:buChar char="ü"/>
            </a:pPr>
            <a:r>
              <a:rPr lang="fr-FR" sz="1700" dirty="0"/>
              <a:t>Vérifier son application avec la commande </a:t>
            </a:r>
            <a:r>
              <a:rPr lang="fr-FR" sz="1700" i="1" dirty="0" err="1"/>
              <a:t>gpresult</a:t>
            </a:r>
            <a:endParaRPr lang="fr-FR" sz="1700" i="1" dirty="0"/>
          </a:p>
          <a:p>
            <a:pPr marL="717550" indent="-358775">
              <a:buFont typeface="Wingdings" panose="05000000000000000000" pitchFamily="2" charset="2"/>
              <a:buChar char="ü"/>
            </a:pPr>
            <a:r>
              <a:rPr lang="fr-FR" sz="1700" dirty="0"/>
              <a:t>Imposer la signature sur clients et serveurs pour bloquer les attaques </a:t>
            </a:r>
            <a:r>
              <a:rPr lang="fr-FR" sz="1700" dirty="0" err="1"/>
              <a:t>MiTM</a:t>
            </a:r>
            <a:r>
              <a:rPr lang="fr-FR" sz="1700" i="1" dirty="0"/>
              <a:t> (Man-In-The-Middle)</a:t>
            </a:r>
          </a:p>
          <a:p>
            <a:pPr>
              <a:buFont typeface="Wingdings" panose="05000000000000000000" pitchFamily="2" charset="2"/>
              <a:buChar char="ü"/>
            </a:pPr>
            <a:endParaRPr lang="fr-FR" i="1" dirty="0"/>
          </a:p>
          <a:p>
            <a:pPr marL="0" indent="0">
              <a:buNone/>
            </a:pPr>
            <a:endParaRPr lang="fr-FR" dirty="0"/>
          </a:p>
        </p:txBody>
      </p:sp>
    </p:spTree>
    <p:extLst>
      <p:ext uri="{BB962C8B-B14F-4D97-AF65-F5344CB8AC3E}">
        <p14:creationId xmlns:p14="http://schemas.microsoft.com/office/powerpoint/2010/main" val="2727549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420976-260D-1D98-294F-128E4E9FB444}"/>
              </a:ext>
            </a:extLst>
          </p:cNvPr>
          <p:cNvSpPr>
            <a:spLocks noGrp="1"/>
          </p:cNvSpPr>
          <p:nvPr>
            <p:ph type="title"/>
          </p:nvPr>
        </p:nvSpPr>
        <p:spPr/>
        <p:txBody>
          <a:bodyPr/>
          <a:lstStyle/>
          <a:p>
            <a:r>
              <a:rPr lang="fr-FR" dirty="0"/>
              <a:t>Vulnérabilités</a:t>
            </a:r>
          </a:p>
        </p:txBody>
      </p:sp>
      <p:sp>
        <p:nvSpPr>
          <p:cNvPr id="3" name="Espace réservé du contenu 2">
            <a:extLst>
              <a:ext uri="{FF2B5EF4-FFF2-40B4-BE49-F238E27FC236}">
                <a16:creationId xmlns:a16="http://schemas.microsoft.com/office/drawing/2014/main" id="{360BDBE9-538E-D13A-150B-920EDB5ED1AD}"/>
              </a:ext>
            </a:extLst>
          </p:cNvPr>
          <p:cNvSpPr>
            <a:spLocks noGrp="1"/>
          </p:cNvSpPr>
          <p:nvPr>
            <p:ph idx="1"/>
          </p:nvPr>
        </p:nvSpPr>
        <p:spPr/>
        <p:txBody>
          <a:bodyPr>
            <a:normAutofit lnSpcReduction="10000"/>
          </a:bodyPr>
          <a:lstStyle/>
          <a:p>
            <a:r>
              <a:rPr lang="fr-FR" sz="1700" dirty="0"/>
              <a:t>V04 – Mauvaise gestion des mots de passe</a:t>
            </a:r>
          </a:p>
          <a:p>
            <a:r>
              <a:rPr lang="fr-FR" sz="1700" dirty="0"/>
              <a:t>Description : L’utilisation de mots de passe simples (ex : </a:t>
            </a:r>
            <a:r>
              <a:rPr lang="fr-FR" sz="1700" i="1" dirty="0" err="1"/>
              <a:t>test:test</a:t>
            </a:r>
            <a:r>
              <a:rPr lang="fr-FR" sz="1700" dirty="0"/>
              <a:t>) expose les comptes à des attaques automatisées de type </a:t>
            </a:r>
            <a:r>
              <a:rPr lang="fr-FR" sz="1700" dirty="0" err="1"/>
              <a:t>password</a:t>
            </a:r>
            <a:r>
              <a:rPr lang="fr-FR" sz="1700" dirty="0"/>
              <a:t> </a:t>
            </a:r>
            <a:r>
              <a:rPr lang="fr-FR" sz="1700" dirty="0" err="1"/>
              <a:t>spraying</a:t>
            </a:r>
            <a:r>
              <a:rPr lang="fr-FR" sz="1700" dirty="0"/>
              <a:t>.</a:t>
            </a:r>
          </a:p>
          <a:p>
            <a:r>
              <a:rPr lang="fr-FR" sz="1700" dirty="0"/>
              <a:t>Criticité : Elevée</a:t>
            </a:r>
          </a:p>
          <a:p>
            <a:r>
              <a:rPr lang="fr-FR" sz="1700" dirty="0"/>
              <a:t>Recommandations :</a:t>
            </a:r>
          </a:p>
          <a:p>
            <a:endParaRPr lang="fr-FR" sz="1700" dirty="0"/>
          </a:p>
          <a:p>
            <a:pPr marL="717550">
              <a:buFont typeface="Wingdings" panose="05000000000000000000" pitchFamily="2" charset="2"/>
              <a:buChar char="ü"/>
            </a:pPr>
            <a:r>
              <a:rPr lang="fr-FR" sz="1700" dirty="0"/>
              <a:t>Appliquer une politique de mot de passe robuste (longueur &gt; 12 caractères, complexité, expiration régulière)</a:t>
            </a:r>
          </a:p>
          <a:p>
            <a:pPr marL="717550">
              <a:buFont typeface="Wingdings" panose="05000000000000000000" pitchFamily="2" charset="2"/>
              <a:buChar char="ü"/>
            </a:pPr>
            <a:r>
              <a:rPr lang="fr-FR" sz="1700" dirty="0"/>
              <a:t>Appliquer une expiration tous les 90 jours et bloquer la réutilisation des 5 derniers mots de passe</a:t>
            </a:r>
          </a:p>
          <a:p>
            <a:pPr marL="717550">
              <a:buFont typeface="Wingdings" panose="05000000000000000000" pitchFamily="2" charset="2"/>
              <a:buChar char="ü"/>
            </a:pPr>
            <a:r>
              <a:rPr lang="fr-FR" sz="1700" dirty="0"/>
              <a:t>Interdire l’usage de mot de passe identique à l’identifiant</a:t>
            </a:r>
          </a:p>
          <a:p>
            <a:pPr>
              <a:buFont typeface="Wingdings" panose="05000000000000000000" pitchFamily="2" charset="2"/>
              <a:buChar char="ü"/>
            </a:pPr>
            <a:endParaRPr lang="fr-FR" dirty="0"/>
          </a:p>
          <a:p>
            <a:endParaRPr lang="fr-FR" dirty="0"/>
          </a:p>
          <a:p>
            <a:pPr>
              <a:buFont typeface="Wingdings" panose="05000000000000000000" pitchFamily="2" charset="2"/>
              <a:buChar char="ü"/>
            </a:pPr>
            <a:endParaRPr lang="fr-FR" dirty="0"/>
          </a:p>
          <a:p>
            <a:pPr>
              <a:buFont typeface="Wingdings" panose="05000000000000000000" pitchFamily="2" charset="2"/>
              <a:buChar char="ü"/>
            </a:pPr>
            <a:endParaRPr lang="fr-FR" dirty="0"/>
          </a:p>
        </p:txBody>
      </p:sp>
    </p:spTree>
    <p:extLst>
      <p:ext uri="{BB962C8B-B14F-4D97-AF65-F5344CB8AC3E}">
        <p14:creationId xmlns:p14="http://schemas.microsoft.com/office/powerpoint/2010/main" val="844794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754DBD-192D-81A8-46BD-BA4C4AEE42D3}"/>
              </a:ext>
            </a:extLst>
          </p:cNvPr>
          <p:cNvSpPr>
            <a:spLocks noGrp="1"/>
          </p:cNvSpPr>
          <p:nvPr>
            <p:ph type="title"/>
          </p:nvPr>
        </p:nvSpPr>
        <p:spPr/>
        <p:txBody>
          <a:bodyPr/>
          <a:lstStyle/>
          <a:p>
            <a:r>
              <a:rPr lang="fr-FR" dirty="0"/>
              <a:t>Vulnérabilités</a:t>
            </a:r>
          </a:p>
        </p:txBody>
      </p:sp>
      <p:sp>
        <p:nvSpPr>
          <p:cNvPr id="3" name="Espace réservé du contenu 2">
            <a:extLst>
              <a:ext uri="{FF2B5EF4-FFF2-40B4-BE49-F238E27FC236}">
                <a16:creationId xmlns:a16="http://schemas.microsoft.com/office/drawing/2014/main" id="{0E97C93B-B090-C9B7-AA3B-4C283B3B7070}"/>
              </a:ext>
            </a:extLst>
          </p:cNvPr>
          <p:cNvSpPr>
            <a:spLocks noGrp="1"/>
          </p:cNvSpPr>
          <p:nvPr>
            <p:ph idx="1"/>
          </p:nvPr>
        </p:nvSpPr>
        <p:spPr/>
        <p:txBody>
          <a:bodyPr/>
          <a:lstStyle/>
          <a:p>
            <a:r>
              <a:rPr lang="fr-FR" sz="1700" dirty="0">
                <a:latin typeface="+mj-lt"/>
              </a:rPr>
              <a:t>V05 - </a:t>
            </a:r>
            <a:r>
              <a:rPr lang="fr-FR" sz="1700" dirty="0">
                <a:effectLst/>
                <a:latin typeface="+mj-lt"/>
                <a:ea typeface="Montserrat" panose="00000500000000000000" pitchFamily="2" charset="0"/>
              </a:rPr>
              <a:t>Absence de verrouillage de comptes</a:t>
            </a:r>
            <a:endParaRPr lang="fr-FR" sz="1700" dirty="0">
              <a:effectLst/>
              <a:latin typeface="+mj-lt"/>
              <a:ea typeface="Calibri" panose="020F0502020204030204" pitchFamily="34" charset="0"/>
            </a:endParaRPr>
          </a:p>
          <a:p>
            <a:r>
              <a:rPr lang="fr-FR" sz="1700" dirty="0">
                <a:latin typeface="+mj-lt"/>
              </a:rPr>
              <a:t>Description : Aucun verrouillage après plusieurs échecs de connexion, facilitant les attaques par brute-force ou </a:t>
            </a:r>
            <a:r>
              <a:rPr lang="fr-FR" sz="1700" dirty="0" err="1">
                <a:latin typeface="+mj-lt"/>
              </a:rPr>
              <a:t>password</a:t>
            </a:r>
            <a:r>
              <a:rPr lang="fr-FR" sz="1700" dirty="0">
                <a:latin typeface="+mj-lt"/>
              </a:rPr>
              <a:t> </a:t>
            </a:r>
            <a:r>
              <a:rPr lang="fr-FR" sz="1700" dirty="0" err="1">
                <a:latin typeface="+mj-lt"/>
              </a:rPr>
              <a:t>spraying</a:t>
            </a:r>
            <a:r>
              <a:rPr lang="fr-FR" sz="1700" dirty="0">
                <a:latin typeface="+mj-lt"/>
              </a:rPr>
              <a:t>.</a:t>
            </a:r>
          </a:p>
          <a:p>
            <a:r>
              <a:rPr lang="fr-FR" sz="1700" dirty="0">
                <a:latin typeface="+mj-lt"/>
              </a:rPr>
              <a:t>Criticité : Elevée</a:t>
            </a:r>
          </a:p>
          <a:p>
            <a:r>
              <a:rPr lang="fr-FR" sz="1700" dirty="0">
                <a:latin typeface="+mj-lt"/>
              </a:rPr>
              <a:t>Recommandations : </a:t>
            </a:r>
          </a:p>
          <a:p>
            <a:pPr marL="0" indent="0">
              <a:buNone/>
            </a:pPr>
            <a:endParaRPr lang="fr-FR" sz="1700" dirty="0">
              <a:latin typeface="+mj-lt"/>
            </a:endParaRPr>
          </a:p>
          <a:p>
            <a:pPr marL="717550">
              <a:buFont typeface="Wingdings" panose="05000000000000000000" pitchFamily="2" charset="2"/>
              <a:buChar char="ü"/>
            </a:pPr>
            <a:r>
              <a:rPr lang="fr-FR" sz="1700" dirty="0">
                <a:latin typeface="+mj-lt"/>
              </a:rPr>
              <a:t>Activer le verrouillage après X tentatives échouées</a:t>
            </a:r>
          </a:p>
          <a:p>
            <a:pPr marL="717550">
              <a:buFont typeface="Wingdings" panose="05000000000000000000" pitchFamily="2" charset="2"/>
              <a:buChar char="ü"/>
            </a:pPr>
            <a:r>
              <a:rPr lang="fr-FR" sz="1700" dirty="0">
                <a:latin typeface="+mj-lt"/>
              </a:rPr>
              <a:t>Définir un déverrouillage automatique (ex : 30 min)</a:t>
            </a:r>
          </a:p>
          <a:p>
            <a:pPr marL="717550">
              <a:buFont typeface="Wingdings" panose="05000000000000000000" pitchFamily="2" charset="2"/>
              <a:buChar char="ü"/>
            </a:pPr>
            <a:r>
              <a:rPr lang="fr-FR" sz="1700" dirty="0">
                <a:latin typeface="+mj-lt"/>
              </a:rPr>
              <a:t>Surveiller les journaux pour repérer les comportements suspects</a:t>
            </a:r>
          </a:p>
          <a:p>
            <a:pPr marL="0" indent="0">
              <a:buNone/>
            </a:pPr>
            <a:endParaRPr lang="fr-FR" dirty="0"/>
          </a:p>
        </p:txBody>
      </p:sp>
    </p:spTree>
    <p:extLst>
      <p:ext uri="{BB962C8B-B14F-4D97-AF65-F5344CB8AC3E}">
        <p14:creationId xmlns:p14="http://schemas.microsoft.com/office/powerpoint/2010/main" val="21491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804D64-5147-CF2A-1B76-677918037149}"/>
              </a:ext>
            </a:extLst>
          </p:cNvPr>
          <p:cNvSpPr>
            <a:spLocks noGrp="1"/>
          </p:cNvSpPr>
          <p:nvPr>
            <p:ph type="title"/>
          </p:nvPr>
        </p:nvSpPr>
        <p:spPr/>
        <p:txBody>
          <a:bodyPr/>
          <a:lstStyle/>
          <a:p>
            <a:r>
              <a:rPr lang="fr-FR" dirty="0"/>
              <a:t>Vulnérabilités</a:t>
            </a:r>
          </a:p>
        </p:txBody>
      </p:sp>
      <p:sp>
        <p:nvSpPr>
          <p:cNvPr id="3" name="Espace réservé du contenu 2">
            <a:extLst>
              <a:ext uri="{FF2B5EF4-FFF2-40B4-BE49-F238E27FC236}">
                <a16:creationId xmlns:a16="http://schemas.microsoft.com/office/drawing/2014/main" id="{74BA0476-2E94-3338-664F-8EA450B07A95}"/>
              </a:ext>
            </a:extLst>
          </p:cNvPr>
          <p:cNvSpPr>
            <a:spLocks noGrp="1"/>
          </p:cNvSpPr>
          <p:nvPr>
            <p:ph idx="1"/>
          </p:nvPr>
        </p:nvSpPr>
        <p:spPr/>
        <p:txBody>
          <a:bodyPr>
            <a:normAutofit/>
          </a:bodyPr>
          <a:lstStyle/>
          <a:p>
            <a:r>
              <a:rPr lang="fr-FR" sz="1700" dirty="0"/>
              <a:t>V06 – Faiblesse des politiques de sécurité Active Directory</a:t>
            </a:r>
          </a:p>
          <a:p>
            <a:r>
              <a:rPr lang="fr-FR" sz="1700" dirty="0"/>
              <a:t>Description : Absence de verrouillage de compte et politique de mot de passe trop laxiste (7 caractères, pas de complexité, expiration trop longue)</a:t>
            </a:r>
          </a:p>
          <a:p>
            <a:r>
              <a:rPr lang="fr-FR" sz="1700" dirty="0"/>
              <a:t>Criticité : Elevée</a:t>
            </a:r>
          </a:p>
          <a:p>
            <a:r>
              <a:rPr lang="fr-FR" sz="1700" dirty="0"/>
              <a:t>Recommandations :</a:t>
            </a:r>
          </a:p>
          <a:p>
            <a:endParaRPr lang="fr-FR" sz="1700" dirty="0"/>
          </a:p>
          <a:p>
            <a:pPr marL="717550">
              <a:buFont typeface="Wingdings" panose="05000000000000000000" pitchFamily="2" charset="2"/>
              <a:buChar char="ü"/>
            </a:pPr>
            <a:r>
              <a:rPr lang="fr-FR" sz="1700" dirty="0"/>
              <a:t>Appliquer une politique de mots de passe et de verrouillage de comptes stricte</a:t>
            </a:r>
          </a:p>
          <a:p>
            <a:pPr marL="717550">
              <a:buFont typeface="Wingdings" panose="05000000000000000000" pitchFamily="2" charset="2"/>
              <a:buChar char="ü"/>
            </a:pPr>
            <a:r>
              <a:rPr lang="fr-FR" sz="1700" dirty="0"/>
              <a:t>Révoquer les sessions actives des comptes à risque</a:t>
            </a:r>
          </a:p>
          <a:p>
            <a:pPr marL="717550">
              <a:buFont typeface="Wingdings" panose="05000000000000000000" pitchFamily="2" charset="2"/>
              <a:buChar char="ü"/>
            </a:pPr>
            <a:r>
              <a:rPr lang="fr-FR" sz="1700" dirty="0"/>
              <a:t>Activer LAPS pour les administrateurs locaux</a:t>
            </a:r>
          </a:p>
          <a:p>
            <a:endParaRPr lang="fr-FR" sz="1700" dirty="0"/>
          </a:p>
        </p:txBody>
      </p:sp>
    </p:spTree>
    <p:extLst>
      <p:ext uri="{BB962C8B-B14F-4D97-AF65-F5344CB8AC3E}">
        <p14:creationId xmlns:p14="http://schemas.microsoft.com/office/powerpoint/2010/main" val="3422437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8D3ED7-0D6A-3965-4276-43287A969ACA}"/>
              </a:ext>
            </a:extLst>
          </p:cNvPr>
          <p:cNvSpPr>
            <a:spLocks noGrp="1"/>
          </p:cNvSpPr>
          <p:nvPr>
            <p:ph type="title"/>
          </p:nvPr>
        </p:nvSpPr>
        <p:spPr/>
        <p:txBody>
          <a:bodyPr/>
          <a:lstStyle/>
          <a:p>
            <a:r>
              <a:rPr lang="fr-FR" dirty="0"/>
              <a:t>Vulnérabilités</a:t>
            </a:r>
          </a:p>
        </p:txBody>
      </p:sp>
      <p:sp>
        <p:nvSpPr>
          <p:cNvPr id="3" name="Espace réservé du contenu 2">
            <a:extLst>
              <a:ext uri="{FF2B5EF4-FFF2-40B4-BE49-F238E27FC236}">
                <a16:creationId xmlns:a16="http://schemas.microsoft.com/office/drawing/2014/main" id="{8EAB35BE-26A3-1FA1-6B76-F89862B9DEE6}"/>
              </a:ext>
            </a:extLst>
          </p:cNvPr>
          <p:cNvSpPr>
            <a:spLocks noGrp="1"/>
          </p:cNvSpPr>
          <p:nvPr>
            <p:ph idx="1"/>
          </p:nvPr>
        </p:nvSpPr>
        <p:spPr/>
        <p:txBody>
          <a:bodyPr>
            <a:normAutofit/>
          </a:bodyPr>
          <a:lstStyle/>
          <a:p>
            <a:r>
              <a:rPr lang="fr-FR" sz="1700" dirty="0"/>
              <a:t>V07 – Compte exposé avec mot de passe en clair</a:t>
            </a:r>
          </a:p>
          <a:p>
            <a:r>
              <a:rPr lang="fr-FR" sz="1700" dirty="0"/>
              <a:t>Description : Le mot de passe du compte "</a:t>
            </a:r>
            <a:r>
              <a:rPr lang="fr-FR" sz="1700" dirty="0" err="1"/>
              <a:t>amaillot</a:t>
            </a:r>
            <a:r>
              <a:rPr lang="fr-FR" sz="1700" dirty="0"/>
              <a:t>" est visible en clair dans la description LDAP, ce qui constitue une faille critique.</a:t>
            </a:r>
          </a:p>
          <a:p>
            <a:r>
              <a:rPr lang="fr-FR" sz="1700" dirty="0"/>
              <a:t>Criticité : Elevée</a:t>
            </a:r>
          </a:p>
          <a:p>
            <a:r>
              <a:rPr lang="fr-FR" sz="1700" dirty="0"/>
              <a:t>Recommandations :</a:t>
            </a:r>
          </a:p>
          <a:p>
            <a:endParaRPr lang="fr-FR" sz="1700" dirty="0"/>
          </a:p>
          <a:p>
            <a:pPr marL="717550">
              <a:buFont typeface="Wingdings" panose="05000000000000000000" pitchFamily="2" charset="2"/>
              <a:buChar char="ü"/>
            </a:pPr>
            <a:r>
              <a:rPr lang="fr-FR" sz="1700" dirty="0"/>
              <a:t>Supprimer immédiatement les mots de passe visibles dans les attributs LDAP</a:t>
            </a:r>
          </a:p>
          <a:p>
            <a:pPr marL="717550">
              <a:buFont typeface="Wingdings" panose="05000000000000000000" pitchFamily="2" charset="2"/>
              <a:buChar char="ü"/>
            </a:pPr>
            <a:r>
              <a:rPr lang="fr-FR" sz="1700" dirty="0"/>
              <a:t>Vérifier l’ensemble des descriptions des objets Active Directory</a:t>
            </a:r>
          </a:p>
          <a:p>
            <a:pPr marL="717550">
              <a:buFont typeface="Wingdings" panose="05000000000000000000" pitchFamily="2" charset="2"/>
              <a:buChar char="ü"/>
            </a:pPr>
            <a:r>
              <a:rPr lang="fr-FR" sz="1700" dirty="0"/>
              <a:t>Sensibiliser les administrateurs à ne jamais inscrire d’informations sensibles dans les champs descriptifs</a:t>
            </a:r>
          </a:p>
        </p:txBody>
      </p:sp>
    </p:spTree>
    <p:extLst>
      <p:ext uri="{BB962C8B-B14F-4D97-AF65-F5344CB8AC3E}">
        <p14:creationId xmlns:p14="http://schemas.microsoft.com/office/powerpoint/2010/main" val="1218539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7AD82D-9C6E-6BE4-404C-2848B969EAA9}"/>
              </a:ext>
            </a:extLst>
          </p:cNvPr>
          <p:cNvSpPr>
            <a:spLocks noGrp="1"/>
          </p:cNvSpPr>
          <p:nvPr>
            <p:ph type="title"/>
          </p:nvPr>
        </p:nvSpPr>
        <p:spPr/>
        <p:txBody>
          <a:bodyPr/>
          <a:lstStyle/>
          <a:p>
            <a:r>
              <a:rPr lang="fr-FR" dirty="0"/>
              <a:t>Vulnérabilités</a:t>
            </a:r>
          </a:p>
        </p:txBody>
      </p:sp>
      <p:sp>
        <p:nvSpPr>
          <p:cNvPr id="3" name="Espace réservé du contenu 2">
            <a:extLst>
              <a:ext uri="{FF2B5EF4-FFF2-40B4-BE49-F238E27FC236}">
                <a16:creationId xmlns:a16="http://schemas.microsoft.com/office/drawing/2014/main" id="{6DDC4230-EAF4-D6E0-51E4-13321DE303AA}"/>
              </a:ext>
            </a:extLst>
          </p:cNvPr>
          <p:cNvSpPr>
            <a:spLocks noGrp="1"/>
          </p:cNvSpPr>
          <p:nvPr>
            <p:ph idx="1"/>
          </p:nvPr>
        </p:nvSpPr>
        <p:spPr>
          <a:xfrm>
            <a:off x="2589212" y="2133600"/>
            <a:ext cx="8915400" cy="3989408"/>
          </a:xfrm>
        </p:spPr>
        <p:txBody>
          <a:bodyPr>
            <a:normAutofit/>
          </a:bodyPr>
          <a:lstStyle/>
          <a:p>
            <a:r>
              <a:rPr lang="fr-FR" sz="1700" dirty="0"/>
              <a:t>V08 – Réutilisation de mots de passe</a:t>
            </a:r>
          </a:p>
          <a:p>
            <a:r>
              <a:rPr lang="fr-FR" sz="1700" dirty="0"/>
              <a:t>Description : Le mot de passe "Support2021" est utilisé sur plusieurs comptes y compris des comptes à privilèges.</a:t>
            </a:r>
          </a:p>
          <a:p>
            <a:r>
              <a:rPr lang="fr-FR" sz="1700" dirty="0"/>
              <a:t>Criticité : Elevée</a:t>
            </a:r>
          </a:p>
          <a:p>
            <a:r>
              <a:rPr lang="fr-FR" sz="1700" dirty="0"/>
              <a:t>Recommandations :</a:t>
            </a:r>
          </a:p>
          <a:p>
            <a:endParaRPr lang="fr-FR" sz="1700" dirty="0"/>
          </a:p>
          <a:p>
            <a:pPr>
              <a:buFont typeface="Wingdings" panose="05000000000000000000" pitchFamily="2" charset="2"/>
              <a:buChar char="ü"/>
            </a:pPr>
            <a:r>
              <a:rPr lang="fr-FR" sz="1700" dirty="0"/>
              <a:t>Mettre en place une politique stricte interdisant la réutilisation des mots de passe</a:t>
            </a:r>
          </a:p>
          <a:p>
            <a:pPr>
              <a:buFont typeface="Wingdings" panose="05000000000000000000" pitchFamily="2" charset="2"/>
              <a:buChar char="ü"/>
            </a:pPr>
            <a:r>
              <a:rPr lang="fr-FR" sz="1700" dirty="0"/>
              <a:t>Appliquer une gestion individualisée et confidentielle des identifiants</a:t>
            </a:r>
          </a:p>
          <a:p>
            <a:pPr>
              <a:buFont typeface="Wingdings" panose="05000000000000000000" pitchFamily="2" charset="2"/>
              <a:buChar char="ü"/>
            </a:pPr>
            <a:r>
              <a:rPr lang="fr-FR" sz="1700" dirty="0"/>
              <a:t>Modifier immédiatement les mots de passe partagés ou compromis</a:t>
            </a:r>
          </a:p>
          <a:p>
            <a:pPr>
              <a:buFont typeface="Wingdings" panose="05000000000000000000" pitchFamily="2" charset="2"/>
              <a:buChar char="ü"/>
            </a:pPr>
            <a:r>
              <a:rPr lang="fr-FR" sz="1700" dirty="0"/>
              <a:t>Sensibiliser les utilisateurs aux risques liés à la réutilisation des mots de passe</a:t>
            </a:r>
          </a:p>
        </p:txBody>
      </p:sp>
    </p:spTree>
    <p:extLst>
      <p:ext uri="{BB962C8B-B14F-4D97-AF65-F5344CB8AC3E}">
        <p14:creationId xmlns:p14="http://schemas.microsoft.com/office/powerpoint/2010/main" val="2810637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8B63A9-AE43-427A-8EF1-E442C6CD57E6}"/>
              </a:ext>
            </a:extLst>
          </p:cNvPr>
          <p:cNvSpPr>
            <a:spLocks noGrp="1"/>
          </p:cNvSpPr>
          <p:nvPr>
            <p:ph type="title"/>
          </p:nvPr>
        </p:nvSpPr>
        <p:spPr/>
        <p:txBody>
          <a:bodyPr/>
          <a:lstStyle/>
          <a:p>
            <a:r>
              <a:rPr lang="fr-FR" dirty="0"/>
              <a:t>Vulnérabilités</a:t>
            </a:r>
          </a:p>
        </p:txBody>
      </p:sp>
      <p:sp>
        <p:nvSpPr>
          <p:cNvPr id="3" name="Espace réservé du contenu 2">
            <a:extLst>
              <a:ext uri="{FF2B5EF4-FFF2-40B4-BE49-F238E27FC236}">
                <a16:creationId xmlns:a16="http://schemas.microsoft.com/office/drawing/2014/main" id="{8139E895-88C1-D1EB-5599-41D0A02584C6}"/>
              </a:ext>
            </a:extLst>
          </p:cNvPr>
          <p:cNvSpPr>
            <a:spLocks noGrp="1"/>
          </p:cNvSpPr>
          <p:nvPr>
            <p:ph idx="1"/>
          </p:nvPr>
        </p:nvSpPr>
        <p:spPr>
          <a:xfrm>
            <a:off x="2589212" y="2133599"/>
            <a:ext cx="8915400" cy="4100291"/>
          </a:xfrm>
        </p:spPr>
        <p:txBody>
          <a:bodyPr>
            <a:normAutofit lnSpcReduction="10000"/>
          </a:bodyPr>
          <a:lstStyle/>
          <a:p>
            <a:r>
              <a:rPr lang="fr-FR" sz="1700" dirty="0">
                <a:latin typeface="+mj-lt"/>
              </a:rPr>
              <a:t>V09 - </a:t>
            </a:r>
            <a:r>
              <a:rPr lang="fr-FR" sz="1700" dirty="0">
                <a:effectLst/>
                <a:latin typeface="+mj-lt"/>
                <a:ea typeface="Montserrat" panose="00000500000000000000" pitchFamily="2" charset="0"/>
              </a:rPr>
              <a:t>Mauvaise gestion des mots de passe des comptes de service</a:t>
            </a:r>
            <a:endParaRPr lang="fr-FR" sz="1700" dirty="0">
              <a:effectLst/>
              <a:latin typeface="+mj-lt"/>
              <a:ea typeface="Calibri" panose="020F0502020204030204" pitchFamily="34" charset="0"/>
            </a:endParaRPr>
          </a:p>
          <a:p>
            <a:r>
              <a:rPr lang="fr-FR" sz="1700" dirty="0">
                <a:latin typeface="+mj-lt"/>
              </a:rPr>
              <a:t>Description : Les comptes de service avec SPN utilisent des mots de passe faibles ou statiques, facilitant les attaques de type </a:t>
            </a:r>
            <a:r>
              <a:rPr lang="fr-FR" sz="1700" dirty="0" err="1">
                <a:latin typeface="+mj-lt"/>
              </a:rPr>
              <a:t>Kerberoasting</a:t>
            </a:r>
            <a:r>
              <a:rPr lang="fr-FR" sz="1700" dirty="0">
                <a:latin typeface="+mj-lt"/>
              </a:rPr>
              <a:t>.</a:t>
            </a:r>
          </a:p>
          <a:p>
            <a:r>
              <a:rPr lang="fr-FR" sz="1700" dirty="0">
                <a:latin typeface="+mj-lt"/>
              </a:rPr>
              <a:t>Criticité : Elevée</a:t>
            </a:r>
          </a:p>
          <a:p>
            <a:r>
              <a:rPr lang="fr-FR" sz="1700" dirty="0">
                <a:latin typeface="+mj-lt"/>
              </a:rPr>
              <a:t>Recommandations : </a:t>
            </a:r>
          </a:p>
          <a:p>
            <a:endParaRPr lang="fr-FR" sz="1700" dirty="0">
              <a:latin typeface="+mj-lt"/>
            </a:endParaRPr>
          </a:p>
          <a:p>
            <a:pPr>
              <a:buFont typeface="Wingdings" panose="05000000000000000000" pitchFamily="2" charset="2"/>
              <a:buChar char="ü"/>
            </a:pPr>
            <a:r>
              <a:rPr lang="fr-FR" sz="1700" dirty="0">
                <a:latin typeface="+mj-lt"/>
              </a:rPr>
              <a:t>Utiliser des mots de passe robustes et longs pour tous les comptes de service et les modifier régulièrement</a:t>
            </a:r>
          </a:p>
          <a:p>
            <a:pPr>
              <a:buFont typeface="Wingdings" panose="05000000000000000000" pitchFamily="2" charset="2"/>
              <a:buChar char="ü"/>
            </a:pPr>
            <a:r>
              <a:rPr lang="fr-FR" sz="1700" dirty="0">
                <a:latin typeface="+mj-lt"/>
              </a:rPr>
              <a:t>Restreindre les privilèges des comptes de service au strict minimum</a:t>
            </a:r>
          </a:p>
          <a:p>
            <a:pPr>
              <a:buFont typeface="Wingdings" panose="05000000000000000000" pitchFamily="2" charset="2"/>
              <a:buChar char="ü"/>
            </a:pPr>
            <a:r>
              <a:rPr lang="fr-FR" sz="1700" dirty="0">
                <a:latin typeface="+mj-lt"/>
              </a:rPr>
              <a:t>Surveiller l’activité des SPN et détecter les extractions de tickets</a:t>
            </a:r>
          </a:p>
          <a:p>
            <a:pPr>
              <a:buFont typeface="Wingdings" panose="05000000000000000000" pitchFamily="2" charset="2"/>
              <a:buChar char="ü"/>
            </a:pPr>
            <a:r>
              <a:rPr lang="fr-FR" sz="1700" dirty="0">
                <a:latin typeface="+mj-lt"/>
              </a:rPr>
              <a:t>Envisager l’usage de </a:t>
            </a:r>
            <a:r>
              <a:rPr lang="fr-FR" sz="1700" b="1" dirty="0" err="1">
                <a:latin typeface="+mj-lt"/>
              </a:rPr>
              <a:t>gMSA</a:t>
            </a:r>
            <a:r>
              <a:rPr lang="fr-FR" sz="1700" dirty="0">
                <a:latin typeface="+mj-lt"/>
              </a:rPr>
              <a:t> (Group </a:t>
            </a:r>
            <a:r>
              <a:rPr lang="fr-FR" sz="1700" dirty="0" err="1">
                <a:latin typeface="+mj-lt"/>
              </a:rPr>
              <a:t>Managed</a:t>
            </a:r>
            <a:r>
              <a:rPr lang="fr-FR" sz="1700" dirty="0">
                <a:latin typeface="+mj-lt"/>
              </a:rPr>
              <a:t> Service </a:t>
            </a:r>
            <a:r>
              <a:rPr lang="fr-FR" sz="1700" dirty="0" err="1">
                <a:latin typeface="+mj-lt"/>
              </a:rPr>
              <a:t>Accounts</a:t>
            </a:r>
            <a:r>
              <a:rPr lang="fr-FR" sz="1700" dirty="0">
                <a:latin typeface="+mj-lt"/>
              </a:rPr>
              <a:t>) pour automatiser la rotation des mots de passe</a:t>
            </a:r>
          </a:p>
          <a:p>
            <a:endParaRPr lang="fr-FR" dirty="0"/>
          </a:p>
          <a:p>
            <a:pPr>
              <a:buFont typeface="Wingdings" panose="05000000000000000000" pitchFamily="2" charset="2"/>
              <a:buChar char="ü"/>
            </a:pPr>
            <a:endParaRPr lang="fr-FR" dirty="0"/>
          </a:p>
        </p:txBody>
      </p:sp>
    </p:spTree>
    <p:extLst>
      <p:ext uri="{BB962C8B-B14F-4D97-AF65-F5344CB8AC3E}">
        <p14:creationId xmlns:p14="http://schemas.microsoft.com/office/powerpoint/2010/main" val="544264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EB5FFB-3FB1-8341-FB35-B308E66DFD45}"/>
              </a:ext>
            </a:extLst>
          </p:cNvPr>
          <p:cNvSpPr>
            <a:spLocks noGrp="1"/>
          </p:cNvSpPr>
          <p:nvPr>
            <p:ph type="title"/>
          </p:nvPr>
        </p:nvSpPr>
        <p:spPr/>
        <p:txBody>
          <a:bodyPr/>
          <a:lstStyle/>
          <a:p>
            <a:r>
              <a:rPr lang="fr-FR" dirty="0"/>
              <a:t>Plan d’action </a:t>
            </a:r>
          </a:p>
        </p:txBody>
      </p:sp>
      <p:sp>
        <p:nvSpPr>
          <p:cNvPr id="3" name="Espace réservé du contenu 2">
            <a:extLst>
              <a:ext uri="{FF2B5EF4-FFF2-40B4-BE49-F238E27FC236}">
                <a16:creationId xmlns:a16="http://schemas.microsoft.com/office/drawing/2014/main" id="{6527A845-8C40-6C1E-A2D7-08308E469AB0}"/>
              </a:ext>
            </a:extLst>
          </p:cNvPr>
          <p:cNvSpPr>
            <a:spLocks noGrp="1"/>
          </p:cNvSpPr>
          <p:nvPr>
            <p:ph idx="1"/>
          </p:nvPr>
        </p:nvSpPr>
        <p:spPr/>
        <p:txBody>
          <a:bodyPr>
            <a:normAutofit/>
          </a:bodyPr>
          <a:lstStyle/>
          <a:p>
            <a:r>
              <a:rPr lang="fr-FR" sz="1700" dirty="0">
                <a:solidFill>
                  <a:schemeClr val="tx1"/>
                </a:solidFill>
              </a:rPr>
              <a:t>Application des correctifs de sécurité</a:t>
            </a:r>
            <a:endParaRPr lang="fr" sz="1700" dirty="0">
              <a:solidFill>
                <a:schemeClr val="tx1"/>
              </a:solidFill>
            </a:endParaRPr>
          </a:p>
          <a:p>
            <a:r>
              <a:rPr lang="fr" sz="1700" dirty="0">
                <a:solidFill>
                  <a:schemeClr val="tx1"/>
                </a:solidFill>
              </a:rPr>
              <a:t>Mise en place d’une surveillance active via un SIEM</a:t>
            </a:r>
          </a:p>
          <a:p>
            <a:r>
              <a:rPr lang="fr" sz="1700" dirty="0">
                <a:solidFill>
                  <a:schemeClr val="tx1"/>
                </a:solidFill>
              </a:rPr>
              <a:t>Mise en place d’une gestion des accès privilégiés via PAM</a:t>
            </a:r>
          </a:p>
          <a:p>
            <a:r>
              <a:rPr lang="fr" sz="1700" dirty="0">
                <a:solidFill>
                  <a:schemeClr val="tx1"/>
                </a:solidFill>
              </a:rPr>
              <a:t>Sensibilisation aux bonnes pratiques et audits réguliers</a:t>
            </a:r>
          </a:p>
          <a:p>
            <a:endParaRPr lang="fr-FR" sz="1700" dirty="0"/>
          </a:p>
        </p:txBody>
      </p:sp>
    </p:spTree>
    <p:extLst>
      <p:ext uri="{BB962C8B-B14F-4D97-AF65-F5344CB8AC3E}">
        <p14:creationId xmlns:p14="http://schemas.microsoft.com/office/powerpoint/2010/main" val="484864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392951-74A3-95BD-177B-B7D5E20016C9}"/>
              </a:ext>
            </a:extLst>
          </p:cNvPr>
          <p:cNvSpPr>
            <a:spLocks noGrp="1"/>
          </p:cNvSpPr>
          <p:nvPr>
            <p:ph type="title"/>
          </p:nvPr>
        </p:nvSpPr>
        <p:spPr/>
        <p:txBody>
          <a:bodyPr/>
          <a:lstStyle/>
          <a:p>
            <a:r>
              <a:rPr lang="fr-FR" dirty="0"/>
              <a:t>Plan d’action</a:t>
            </a:r>
          </a:p>
        </p:txBody>
      </p:sp>
      <p:sp>
        <p:nvSpPr>
          <p:cNvPr id="3" name="Espace réservé du contenu 2">
            <a:extLst>
              <a:ext uri="{FF2B5EF4-FFF2-40B4-BE49-F238E27FC236}">
                <a16:creationId xmlns:a16="http://schemas.microsoft.com/office/drawing/2014/main" id="{0AB42C79-F6D0-27A8-213B-032999893541}"/>
              </a:ext>
            </a:extLst>
          </p:cNvPr>
          <p:cNvSpPr>
            <a:spLocks noGrp="1"/>
          </p:cNvSpPr>
          <p:nvPr>
            <p:ph idx="1"/>
          </p:nvPr>
        </p:nvSpPr>
        <p:spPr/>
        <p:txBody>
          <a:bodyPr>
            <a:normAutofit/>
          </a:bodyPr>
          <a:lstStyle/>
          <a:p>
            <a:r>
              <a:rPr lang="fr-FR" sz="1700" dirty="0">
                <a:solidFill>
                  <a:schemeClr val="tx1"/>
                </a:solidFill>
              </a:rPr>
              <a:t>Application des correctifs de sécurité</a:t>
            </a:r>
            <a:endParaRPr lang="fr" sz="1700" dirty="0">
              <a:solidFill>
                <a:schemeClr val="tx1"/>
              </a:solidFill>
            </a:endParaRPr>
          </a:p>
          <a:p>
            <a:pPr marL="114300" indent="0">
              <a:buNone/>
            </a:pPr>
            <a:r>
              <a:rPr lang="fr-FR" sz="1700" dirty="0"/>
              <a:t>L’absence de correctifs expose les équipements à des vulnérabilités connues et exploitables par des attaquants. Les mises à jour régulières suppriment les failles de sécurité, renforcent la sécurité des systèmes et réduisent le risque de compromission.</a:t>
            </a:r>
          </a:p>
          <a:p>
            <a:pPr marL="114300" indent="0">
              <a:buNone/>
            </a:pPr>
            <a:r>
              <a:rPr lang="fr-FR" sz="1700" dirty="0"/>
              <a:t>Nos préconisations sont les suivantes :</a:t>
            </a:r>
          </a:p>
          <a:p>
            <a:pPr marL="0" indent="0">
              <a:buNone/>
            </a:pPr>
            <a:endParaRPr lang="fr-FR" sz="1700" dirty="0"/>
          </a:p>
          <a:p>
            <a:pPr marL="717550">
              <a:buFont typeface="Wingdings" panose="05000000000000000000" pitchFamily="2" charset="2"/>
              <a:buChar char="ü"/>
            </a:pPr>
            <a:r>
              <a:rPr lang="fr-FR" sz="1700" dirty="0"/>
              <a:t>Vérifier les correctifs liés aux services SMB, LDAP et Kerberos</a:t>
            </a:r>
          </a:p>
          <a:p>
            <a:pPr marL="717550">
              <a:buFont typeface="Wingdings" panose="05000000000000000000" pitchFamily="2" charset="2"/>
              <a:buChar char="ü"/>
            </a:pPr>
            <a:r>
              <a:rPr lang="fr-FR" sz="1700" dirty="0"/>
              <a:t>Installer les dernières mises à jour Windows Server et client</a:t>
            </a:r>
          </a:p>
          <a:p>
            <a:pPr marL="717550">
              <a:buFont typeface="Wingdings" panose="05000000000000000000" pitchFamily="2" charset="2"/>
              <a:buChar char="ü"/>
            </a:pPr>
            <a:r>
              <a:rPr lang="fr-FR" sz="1700" dirty="0"/>
              <a:t>Déployer une solution de gestion des mises à jour comme WSUS ou SCCM</a:t>
            </a:r>
          </a:p>
          <a:p>
            <a:pPr>
              <a:buFont typeface="Wingdings" panose="05000000000000000000" pitchFamily="2" charset="2"/>
              <a:buChar char="ü"/>
            </a:pPr>
            <a:endParaRPr lang="fr-FR" sz="1700" dirty="0"/>
          </a:p>
          <a:p>
            <a:pPr>
              <a:buFont typeface="Wingdings" panose="05000000000000000000" pitchFamily="2" charset="2"/>
              <a:buChar char="ü"/>
            </a:pPr>
            <a:endParaRPr lang="fr-FR" sz="1700" dirty="0"/>
          </a:p>
        </p:txBody>
      </p:sp>
    </p:spTree>
    <p:extLst>
      <p:ext uri="{BB962C8B-B14F-4D97-AF65-F5344CB8AC3E}">
        <p14:creationId xmlns:p14="http://schemas.microsoft.com/office/powerpoint/2010/main" val="3285748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EF5034-49A0-3063-9AD2-DF854C4296CB}"/>
              </a:ext>
            </a:extLst>
          </p:cNvPr>
          <p:cNvSpPr>
            <a:spLocks noGrp="1"/>
          </p:cNvSpPr>
          <p:nvPr>
            <p:ph type="title"/>
          </p:nvPr>
        </p:nvSpPr>
        <p:spPr/>
        <p:txBody>
          <a:bodyPr/>
          <a:lstStyle/>
          <a:p>
            <a:r>
              <a:rPr lang="fr-FR" dirty="0"/>
              <a:t>Plan d’action</a:t>
            </a:r>
          </a:p>
        </p:txBody>
      </p:sp>
      <p:sp>
        <p:nvSpPr>
          <p:cNvPr id="3" name="Espace réservé du contenu 2">
            <a:extLst>
              <a:ext uri="{FF2B5EF4-FFF2-40B4-BE49-F238E27FC236}">
                <a16:creationId xmlns:a16="http://schemas.microsoft.com/office/drawing/2014/main" id="{68356B1A-4F39-EBBF-50E6-066B71CECB7E}"/>
              </a:ext>
            </a:extLst>
          </p:cNvPr>
          <p:cNvSpPr>
            <a:spLocks noGrp="1"/>
          </p:cNvSpPr>
          <p:nvPr>
            <p:ph idx="1"/>
          </p:nvPr>
        </p:nvSpPr>
        <p:spPr>
          <a:xfrm>
            <a:off x="2592925" y="1994703"/>
            <a:ext cx="8915400" cy="3873661"/>
          </a:xfrm>
        </p:spPr>
        <p:txBody>
          <a:bodyPr>
            <a:noAutofit/>
          </a:bodyPr>
          <a:lstStyle/>
          <a:p>
            <a:r>
              <a:rPr lang="fr" sz="1700" dirty="0">
                <a:solidFill>
                  <a:schemeClr val="tx1"/>
                </a:solidFill>
              </a:rPr>
              <a:t>Mise en place d’une surveillance active via un SIEM</a:t>
            </a:r>
          </a:p>
          <a:p>
            <a:pPr marL="114300" indent="0">
              <a:buNone/>
            </a:pPr>
            <a:r>
              <a:rPr lang="fr-FR" sz="1700" dirty="0"/>
              <a:t>L’absence de surveillance expose le réseau à des intrusions et comportements malveillants non détectés.</a:t>
            </a:r>
          </a:p>
          <a:p>
            <a:pPr marL="114300" indent="0">
              <a:buNone/>
            </a:pPr>
            <a:r>
              <a:rPr lang="fr-FR" sz="1700" dirty="0"/>
              <a:t>L’implémentation d’un SIEM permet d’identifier rapidement les activités suspectes et de répondre efficacement aux incidents de sécurité tout en optimisant l’analyse par la centralisation des logs.</a:t>
            </a:r>
          </a:p>
          <a:p>
            <a:pPr marL="114300" indent="0">
              <a:buNone/>
            </a:pPr>
            <a:r>
              <a:rPr lang="fr-FR" sz="1700" dirty="0"/>
              <a:t>Pour aller en ce sens il convient de :</a:t>
            </a:r>
          </a:p>
          <a:p>
            <a:pPr marL="114300" indent="0">
              <a:buNone/>
            </a:pPr>
            <a:endParaRPr lang="fr-FR" sz="1700" dirty="0"/>
          </a:p>
          <a:p>
            <a:pPr marL="717550" indent="-285750">
              <a:buFont typeface="Wingdings" panose="05000000000000000000" pitchFamily="2" charset="2"/>
              <a:buChar char="ü"/>
            </a:pPr>
            <a:r>
              <a:rPr lang="fr-FR" sz="1700" dirty="0"/>
              <a:t>Installer un SIEM (Security Information and Event </a:t>
            </a:r>
            <a:r>
              <a:rPr lang="fr-FR" sz="1700" dirty="0" err="1"/>
              <a:t>Managment</a:t>
            </a:r>
            <a:r>
              <a:rPr lang="fr-FR" sz="1700" dirty="0"/>
              <a:t>) comme Splunk</a:t>
            </a:r>
          </a:p>
          <a:p>
            <a:pPr marL="717550" indent="-285750">
              <a:buFont typeface="Wingdings" panose="05000000000000000000" pitchFamily="2" charset="2"/>
              <a:buChar char="ü"/>
            </a:pPr>
            <a:r>
              <a:rPr lang="fr-FR" sz="1700" dirty="0"/>
              <a:t>Activer l’audit des tentatives de connexions échouées </a:t>
            </a:r>
          </a:p>
          <a:p>
            <a:pPr marL="717550" indent="-285750">
              <a:buFont typeface="Wingdings" panose="05000000000000000000" pitchFamily="2" charset="2"/>
              <a:buChar char="ü"/>
            </a:pPr>
            <a:r>
              <a:rPr lang="fr-FR" sz="1700" dirty="0"/>
              <a:t>Configurer des alertes pour détecter des comportements anormaux  (ex : connexions simultanées sur plusieurs machines)</a:t>
            </a:r>
          </a:p>
          <a:p>
            <a:pPr marL="400050" indent="-285750">
              <a:buFont typeface="Wingdings" panose="05000000000000000000" pitchFamily="2" charset="2"/>
              <a:buChar char="ü"/>
            </a:pPr>
            <a:endParaRPr lang="fr-FR" sz="1700" dirty="0"/>
          </a:p>
          <a:p>
            <a:pPr>
              <a:buFont typeface="Wingdings" panose="05000000000000000000" pitchFamily="2" charset="2"/>
              <a:buChar char="ü"/>
            </a:pPr>
            <a:endParaRPr lang="fr-FR" sz="1700" dirty="0"/>
          </a:p>
        </p:txBody>
      </p:sp>
    </p:spTree>
    <p:extLst>
      <p:ext uri="{BB962C8B-B14F-4D97-AF65-F5344CB8AC3E}">
        <p14:creationId xmlns:p14="http://schemas.microsoft.com/office/powerpoint/2010/main" val="2770189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9DF8BB-2938-94D4-01FA-AE93F41CAEBA}"/>
              </a:ext>
            </a:extLst>
          </p:cNvPr>
          <p:cNvSpPr>
            <a:spLocks noGrp="1"/>
          </p:cNvSpPr>
          <p:nvPr>
            <p:ph type="title"/>
          </p:nvPr>
        </p:nvSpPr>
        <p:spPr/>
        <p:txBody>
          <a:bodyPr/>
          <a:lstStyle/>
          <a:p>
            <a:r>
              <a:rPr lang="fr-FR" dirty="0"/>
              <a:t>Plan d’action</a:t>
            </a:r>
          </a:p>
        </p:txBody>
      </p:sp>
      <p:sp>
        <p:nvSpPr>
          <p:cNvPr id="3" name="Espace réservé du contenu 2">
            <a:extLst>
              <a:ext uri="{FF2B5EF4-FFF2-40B4-BE49-F238E27FC236}">
                <a16:creationId xmlns:a16="http://schemas.microsoft.com/office/drawing/2014/main" id="{7D770B94-8693-4775-7B74-9E7B9B4CFEA3}"/>
              </a:ext>
            </a:extLst>
          </p:cNvPr>
          <p:cNvSpPr>
            <a:spLocks noGrp="1"/>
          </p:cNvSpPr>
          <p:nvPr>
            <p:ph idx="1"/>
          </p:nvPr>
        </p:nvSpPr>
        <p:spPr/>
        <p:txBody>
          <a:bodyPr>
            <a:normAutofit fontScale="92500"/>
          </a:bodyPr>
          <a:lstStyle/>
          <a:p>
            <a:r>
              <a:rPr lang="fr" sz="1800" dirty="0">
                <a:solidFill>
                  <a:schemeClr val="tx1"/>
                </a:solidFill>
              </a:rPr>
              <a:t>Mise en place d’une gestion des accès privilégiés via PAM</a:t>
            </a:r>
          </a:p>
          <a:p>
            <a:pPr marL="114300" indent="0">
              <a:buNone/>
            </a:pPr>
            <a:r>
              <a:rPr lang="fr-FR" sz="1800" dirty="0"/>
              <a:t>Les comptes à privilèges sont des cibles de choix pour les attaquants. L’absence de contrôle sur ces accès expose le système à des compromissions critiques. L’implémentation d’un PAM permet de réduire ces risques en restreignant et en surveillant l’utilisation de privilèges élevés.</a:t>
            </a:r>
          </a:p>
          <a:p>
            <a:pPr marL="114300" indent="0">
              <a:buNone/>
            </a:pPr>
            <a:r>
              <a:rPr lang="fr-FR" sz="1800" dirty="0"/>
              <a:t>Pour cela il convient de :</a:t>
            </a:r>
          </a:p>
          <a:p>
            <a:pPr marL="0" indent="0">
              <a:buNone/>
            </a:pPr>
            <a:endParaRPr lang="fr-FR" dirty="0"/>
          </a:p>
          <a:p>
            <a:pPr marL="717550">
              <a:buFont typeface="Wingdings" panose="05000000000000000000" pitchFamily="2" charset="2"/>
              <a:buChar char="ü"/>
            </a:pPr>
            <a:r>
              <a:rPr lang="fr-FR" sz="1800" dirty="0"/>
              <a:t>Mettre en place un PAM (</a:t>
            </a:r>
            <a:r>
              <a:rPr lang="fr-FR" sz="1800" dirty="0" err="1"/>
              <a:t>Privileged</a:t>
            </a:r>
            <a:r>
              <a:rPr lang="fr-FR" sz="1800" dirty="0"/>
              <a:t> Access </a:t>
            </a:r>
            <a:r>
              <a:rPr lang="fr-FR" sz="1800" dirty="0" err="1"/>
              <a:t>Managment</a:t>
            </a:r>
            <a:r>
              <a:rPr lang="fr-FR" sz="1800" dirty="0"/>
              <a:t>) pour restreindre et surveiller les accès administrateurs</a:t>
            </a:r>
          </a:p>
          <a:p>
            <a:pPr marL="717550">
              <a:buFont typeface="Wingdings" panose="05000000000000000000" pitchFamily="2" charset="2"/>
              <a:buChar char="ü"/>
            </a:pPr>
            <a:r>
              <a:rPr lang="fr-FR" sz="1800" dirty="0"/>
              <a:t>Activer le principe de moindre privilège pour tous les comptes</a:t>
            </a:r>
          </a:p>
          <a:p>
            <a:pPr marL="717550">
              <a:buFont typeface="Wingdings" panose="05000000000000000000" pitchFamily="2" charset="2"/>
              <a:buChar char="ü"/>
            </a:pPr>
            <a:r>
              <a:rPr lang="fr-FR" sz="1800" dirty="0"/>
              <a:t>Limiter les connexions RDP uniquement aux comptes ayant un réel besoin</a:t>
            </a:r>
          </a:p>
          <a:p>
            <a:pPr marL="0" indent="0">
              <a:buNone/>
            </a:pPr>
            <a:endParaRPr lang="fr-FR" dirty="0"/>
          </a:p>
        </p:txBody>
      </p:sp>
    </p:spTree>
    <p:extLst>
      <p:ext uri="{BB962C8B-B14F-4D97-AF65-F5344CB8AC3E}">
        <p14:creationId xmlns:p14="http://schemas.microsoft.com/office/powerpoint/2010/main" val="2930535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EF2B1-75F6-56A2-60F8-1C3CDEA07454}"/>
              </a:ext>
            </a:extLst>
          </p:cNvPr>
          <p:cNvSpPr>
            <a:spLocks noGrp="1"/>
          </p:cNvSpPr>
          <p:nvPr>
            <p:ph type="title"/>
          </p:nvPr>
        </p:nvSpPr>
        <p:spPr/>
        <p:txBody>
          <a:bodyPr/>
          <a:lstStyle/>
          <a:p>
            <a:r>
              <a:rPr lang="fr-FR" dirty="0"/>
              <a:t>Plan d’action</a:t>
            </a:r>
          </a:p>
        </p:txBody>
      </p:sp>
      <p:sp>
        <p:nvSpPr>
          <p:cNvPr id="3" name="Espace réservé du contenu 2">
            <a:extLst>
              <a:ext uri="{FF2B5EF4-FFF2-40B4-BE49-F238E27FC236}">
                <a16:creationId xmlns:a16="http://schemas.microsoft.com/office/drawing/2014/main" id="{288B6D60-90AB-0E34-6F69-2E4DCDF436DB}"/>
              </a:ext>
            </a:extLst>
          </p:cNvPr>
          <p:cNvSpPr>
            <a:spLocks noGrp="1"/>
          </p:cNvSpPr>
          <p:nvPr>
            <p:ph idx="1"/>
          </p:nvPr>
        </p:nvSpPr>
        <p:spPr/>
        <p:txBody>
          <a:bodyPr>
            <a:normAutofit fontScale="92500" lnSpcReduction="10000"/>
          </a:bodyPr>
          <a:lstStyle/>
          <a:p>
            <a:r>
              <a:rPr lang="fr" sz="1800" dirty="0">
                <a:solidFill>
                  <a:schemeClr val="tx1"/>
                </a:solidFill>
              </a:rPr>
              <a:t>Sensibilisation aux bonnes pratiques et audits réguliers</a:t>
            </a:r>
          </a:p>
          <a:p>
            <a:r>
              <a:rPr lang="fr" dirty="0">
                <a:solidFill>
                  <a:schemeClr val="tx1"/>
                </a:solidFill>
              </a:rPr>
              <a:t>Sensibilisation des utilisateurs pour </a:t>
            </a:r>
            <a:r>
              <a:rPr lang="fr-FR" dirty="0">
                <a:solidFill>
                  <a:schemeClr val="tx1"/>
                </a:solidFill>
              </a:rPr>
              <a:t>p</a:t>
            </a:r>
            <a:r>
              <a:rPr lang="fr-FR" dirty="0"/>
              <a:t>révenir les erreurs humaines pour réduire les risques d'attaques ciblées</a:t>
            </a:r>
          </a:p>
          <a:p>
            <a:pPr marL="717550">
              <a:buFont typeface="Wingdings" panose="05000000000000000000" pitchFamily="2" charset="2"/>
              <a:buChar char="ü"/>
            </a:pPr>
            <a:r>
              <a:rPr lang="fr-FR" dirty="0"/>
              <a:t>Former régulièrement sur les bonnes pratiques de cybersécurité</a:t>
            </a:r>
          </a:p>
          <a:p>
            <a:pPr marL="717550">
              <a:buFont typeface="Wingdings" panose="05000000000000000000" pitchFamily="2" charset="2"/>
              <a:buChar char="ü"/>
            </a:pPr>
            <a:r>
              <a:rPr lang="fr-FR" dirty="0"/>
              <a:t>Sensibiliser aux risques de phishing et d’ingénierie sociale</a:t>
            </a:r>
          </a:p>
          <a:p>
            <a:pPr marL="717550">
              <a:buFont typeface="Wingdings" panose="05000000000000000000" pitchFamily="2" charset="2"/>
              <a:buChar char="ü"/>
            </a:pPr>
            <a:r>
              <a:rPr lang="fr-FR" dirty="0"/>
              <a:t>Organiser des campagnes de test pour évaluer la vigilance</a:t>
            </a:r>
          </a:p>
          <a:p>
            <a:r>
              <a:rPr lang="fr-FR" dirty="0"/>
              <a:t>Surveillance et audits réguliers afin d’identifier les vulnérabilités avant qu’elles ne soient exploitées</a:t>
            </a:r>
          </a:p>
          <a:p>
            <a:pPr marL="717550">
              <a:buFont typeface="Wingdings" panose="05000000000000000000" pitchFamily="2" charset="2"/>
              <a:buChar char="ü"/>
            </a:pPr>
            <a:r>
              <a:rPr lang="fr-FR" dirty="0"/>
              <a:t>Réaliser des tests d’intrusion annuels pour détecter les failles</a:t>
            </a:r>
          </a:p>
          <a:p>
            <a:pPr marL="717550">
              <a:buFont typeface="Wingdings" panose="05000000000000000000" pitchFamily="2" charset="2"/>
              <a:buChar char="ü"/>
            </a:pPr>
            <a:r>
              <a:rPr lang="fr-FR" dirty="0"/>
              <a:t>Contrôler les journaux d’audit et les configurations critiques</a:t>
            </a:r>
          </a:p>
          <a:p>
            <a:pPr marL="717550">
              <a:buFont typeface="Wingdings" panose="05000000000000000000" pitchFamily="2" charset="2"/>
              <a:buChar char="ü"/>
            </a:pPr>
            <a:r>
              <a:rPr lang="fr-FR" dirty="0"/>
              <a:t>Mettre en place une détection automatisée des anomalies réseau</a:t>
            </a:r>
            <a:endParaRPr lang="fr" dirty="0">
              <a:solidFill>
                <a:schemeClr val="tx1"/>
              </a:solidFill>
            </a:endParaRPr>
          </a:p>
          <a:p>
            <a:pPr marL="0" indent="0">
              <a:buNone/>
            </a:pPr>
            <a:endParaRPr lang="fr" sz="1800" dirty="0">
              <a:solidFill>
                <a:schemeClr val="tx1"/>
              </a:solidFill>
            </a:endParaRPr>
          </a:p>
          <a:p>
            <a:pPr marL="0" indent="0">
              <a:buNone/>
            </a:pPr>
            <a:endParaRPr lang="fr-FR" dirty="0"/>
          </a:p>
        </p:txBody>
      </p:sp>
    </p:spTree>
    <p:extLst>
      <p:ext uri="{BB962C8B-B14F-4D97-AF65-F5344CB8AC3E}">
        <p14:creationId xmlns:p14="http://schemas.microsoft.com/office/powerpoint/2010/main" val="2563823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B793F0-AA92-E4C4-172E-7C7CA2E677CD}"/>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9AEF4E6D-C51D-509E-3487-931B16CBBD0F}"/>
              </a:ext>
            </a:extLst>
          </p:cNvPr>
          <p:cNvSpPr>
            <a:spLocks noGrp="1"/>
          </p:cNvSpPr>
          <p:nvPr>
            <p:ph idx="1"/>
          </p:nvPr>
        </p:nvSpPr>
        <p:spPr/>
        <p:txBody>
          <a:bodyPr/>
          <a:lstStyle/>
          <a:p>
            <a:pPr marL="0" indent="0" algn="ctr">
              <a:buNone/>
            </a:pPr>
            <a:endParaRPr lang="fr-FR" sz="1800" b="0" i="0" u="none" strike="noStrike" baseline="0" dirty="0">
              <a:solidFill>
                <a:srgbClr val="000000"/>
              </a:solidFill>
              <a:latin typeface="+mj-lt"/>
            </a:endParaRPr>
          </a:p>
          <a:p>
            <a:pPr marL="0" indent="0" algn="ctr">
              <a:buNone/>
            </a:pPr>
            <a:endParaRPr lang="fr-FR" dirty="0">
              <a:solidFill>
                <a:srgbClr val="000000"/>
              </a:solidFill>
              <a:latin typeface="+mj-lt"/>
            </a:endParaRPr>
          </a:p>
          <a:p>
            <a:pPr marL="0" indent="0" algn="ctr">
              <a:buNone/>
            </a:pPr>
            <a:r>
              <a:rPr lang="fr-FR" sz="1800" b="0" i="0" u="none" strike="noStrike" baseline="0" dirty="0">
                <a:solidFill>
                  <a:srgbClr val="000000"/>
                </a:solidFill>
                <a:latin typeface="+mj-lt"/>
              </a:rPr>
              <a:t>La cybersécurité est l’affaire de tous : une vigilance permanente et une sensibilisation continue permettront de garantir un environnement numérique plus sûr et performant. </a:t>
            </a:r>
            <a:endParaRPr lang="fr-FR" dirty="0">
              <a:latin typeface="+mj-lt"/>
            </a:endParaRPr>
          </a:p>
        </p:txBody>
      </p:sp>
    </p:spTree>
    <p:extLst>
      <p:ext uri="{BB962C8B-B14F-4D97-AF65-F5344CB8AC3E}">
        <p14:creationId xmlns:p14="http://schemas.microsoft.com/office/powerpoint/2010/main" val="4239362599"/>
      </p:ext>
    </p:extLst>
  </p:cSld>
  <p:clrMapOvr>
    <a:masterClrMapping/>
  </p:clrMapOvr>
</p:sld>
</file>

<file path=ppt/theme/theme1.xml><?xml version="1.0" encoding="utf-8"?>
<a:theme xmlns:a="http://schemas.openxmlformats.org/drawingml/2006/main" name="Brin">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TM02892315[[fn=Brin]]</Template>
  <TotalTime>0</TotalTime>
  <Words>1346</Words>
  <Application>Microsoft Office PowerPoint</Application>
  <PresentationFormat>Grand écran</PresentationFormat>
  <Paragraphs>176</Paragraphs>
  <Slides>20</Slides>
  <Notes>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20</vt:i4>
      </vt:variant>
    </vt:vector>
  </HeadingPairs>
  <TitlesOfParts>
    <vt:vector size="26" baseType="lpstr">
      <vt:lpstr>Aptos</vt:lpstr>
      <vt:lpstr>Arial</vt:lpstr>
      <vt:lpstr>Century Gothic</vt:lpstr>
      <vt:lpstr>Wingdings</vt:lpstr>
      <vt:lpstr>Wingdings 3</vt:lpstr>
      <vt:lpstr>Brin</vt:lpstr>
      <vt:lpstr>Réunion de restitution</vt:lpstr>
      <vt:lpstr>Sommaire</vt:lpstr>
      <vt:lpstr>Contexte et périmètre</vt:lpstr>
      <vt:lpstr>Contexte et périmètre</vt:lpstr>
      <vt:lpstr>Méthodologie</vt:lpstr>
      <vt:lpstr>Vulnérabilités</vt:lpstr>
      <vt:lpstr> Vulnérabilités</vt:lpstr>
      <vt:lpstr>Vulnérabilités</vt:lpstr>
      <vt:lpstr>Vulnérabilités</vt:lpstr>
      <vt:lpstr>Vulnérabilités</vt:lpstr>
      <vt:lpstr>Vulnérabilités</vt:lpstr>
      <vt:lpstr>Vulnérabilités</vt:lpstr>
      <vt:lpstr>Vulnérabilités</vt:lpstr>
      <vt:lpstr>Vulnérabilités</vt:lpstr>
      <vt:lpstr>Plan d’action </vt:lpstr>
      <vt:lpstr>Plan d’action</vt:lpstr>
      <vt:lpstr>Plan d’action</vt:lpstr>
      <vt:lpstr>Plan d’action</vt:lpstr>
      <vt:lpstr>Plan d’action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Walid RHOUMA</dc:creator>
  <cp:lastModifiedBy>Walid RHOUMA</cp:lastModifiedBy>
  <cp:revision>5</cp:revision>
  <dcterms:created xsi:type="dcterms:W3CDTF">2025-04-09T15:48:31Z</dcterms:created>
  <dcterms:modified xsi:type="dcterms:W3CDTF">2025-04-11T14:46:18Z</dcterms:modified>
</cp:coreProperties>
</file>